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70" r:id="rId13"/>
    <p:sldId id="266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81433" autoAdjust="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00F9E3-3AF3-4C14-9D10-614C47325A3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0D833CA-A865-42CB-8AA7-5568B0881D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Satellite Image Analysis (Urban Mapping)</a:t>
          </a:r>
        </a:p>
      </dgm:t>
    </dgm:pt>
    <dgm:pt modelId="{9B7B7CA6-E459-4185-A958-17E229F10C09}" type="parTrans" cxnId="{FBEC05AB-1582-43CE-82C0-F31CCE4808F6}">
      <dgm:prSet/>
      <dgm:spPr/>
      <dgm:t>
        <a:bodyPr/>
        <a:lstStyle/>
        <a:p>
          <a:endParaRPr lang="en-US"/>
        </a:p>
      </dgm:t>
    </dgm:pt>
    <dgm:pt modelId="{CCFFA348-17DF-4B61-965F-B85B50453E3F}" type="sibTrans" cxnId="{FBEC05AB-1582-43CE-82C0-F31CCE4808F6}">
      <dgm:prSet/>
      <dgm:spPr/>
      <dgm:t>
        <a:bodyPr/>
        <a:lstStyle/>
        <a:p>
          <a:endParaRPr lang="en-US"/>
        </a:p>
      </dgm:t>
    </dgm:pt>
    <dgm:pt modelId="{5A7E4B96-9A0F-4E89-9132-8DD8E93CCF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Autonomous Driving (Self-driving cars)</a:t>
          </a:r>
        </a:p>
      </dgm:t>
    </dgm:pt>
    <dgm:pt modelId="{ADD5A4B0-A0A0-4F7C-A290-591C2E613F73}" type="parTrans" cxnId="{65D7036A-F755-41FC-A899-6E22022B97E9}">
      <dgm:prSet/>
      <dgm:spPr/>
      <dgm:t>
        <a:bodyPr/>
        <a:lstStyle/>
        <a:p>
          <a:endParaRPr lang="en-US"/>
        </a:p>
      </dgm:t>
    </dgm:pt>
    <dgm:pt modelId="{E1DECA8A-0851-4CD0-A7BA-9470CB4EAE8E}" type="sibTrans" cxnId="{65D7036A-F755-41FC-A899-6E22022B97E9}">
      <dgm:prSet/>
      <dgm:spPr/>
      <dgm:t>
        <a:bodyPr/>
        <a:lstStyle/>
        <a:p>
          <a:endParaRPr lang="en-US"/>
        </a:p>
      </dgm:t>
    </dgm:pt>
    <dgm:pt modelId="{B8AA577C-0B9D-4EFC-8A36-A14988FAE1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Medical Imaging (MRI &amp; CT scans)</a:t>
          </a:r>
        </a:p>
      </dgm:t>
    </dgm:pt>
    <dgm:pt modelId="{3FE54FED-A83B-448C-BE51-626A72718AB8}" type="parTrans" cxnId="{62E0E26A-E6A7-48F1-9F32-B81399F53E4D}">
      <dgm:prSet/>
      <dgm:spPr/>
      <dgm:t>
        <a:bodyPr/>
        <a:lstStyle/>
        <a:p>
          <a:endParaRPr lang="en-US"/>
        </a:p>
      </dgm:t>
    </dgm:pt>
    <dgm:pt modelId="{5514B6F3-9C8F-452B-99C7-BBCC41F63D36}" type="sibTrans" cxnId="{62E0E26A-E6A7-48F1-9F32-B81399F53E4D}">
      <dgm:prSet/>
      <dgm:spPr/>
      <dgm:t>
        <a:bodyPr/>
        <a:lstStyle/>
        <a:p>
          <a:endParaRPr lang="en-US"/>
        </a:p>
      </dgm:t>
    </dgm:pt>
    <dgm:pt modelId="{01A9ED54-ED06-4159-BF23-811D52864B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Industrial IoT</a:t>
          </a:r>
        </a:p>
      </dgm:t>
    </dgm:pt>
    <dgm:pt modelId="{200972F2-6593-46BE-8CEF-5650FAEF0605}" type="parTrans" cxnId="{E34EBB77-4D79-47C6-AD00-972B36E381DC}">
      <dgm:prSet/>
      <dgm:spPr/>
      <dgm:t>
        <a:bodyPr/>
        <a:lstStyle/>
        <a:p>
          <a:endParaRPr lang="en-US"/>
        </a:p>
      </dgm:t>
    </dgm:pt>
    <dgm:pt modelId="{9E737972-7968-4558-BD13-E5F1CDB2DBB4}" type="sibTrans" cxnId="{E34EBB77-4D79-47C6-AD00-972B36E381DC}">
      <dgm:prSet/>
      <dgm:spPr/>
      <dgm:t>
        <a:bodyPr/>
        <a:lstStyle/>
        <a:p>
          <a:endParaRPr lang="en-US"/>
        </a:p>
      </dgm:t>
    </dgm:pt>
    <dgm:pt modelId="{71A3B989-1097-4643-9314-3DC8BE9D9B7D}" type="pres">
      <dgm:prSet presAssocID="{5000F9E3-3AF3-4C14-9D10-614C47325A3B}" presName="root" presStyleCnt="0">
        <dgm:presLayoutVars>
          <dgm:dir/>
          <dgm:resizeHandles val="exact"/>
        </dgm:presLayoutVars>
      </dgm:prSet>
      <dgm:spPr/>
    </dgm:pt>
    <dgm:pt modelId="{3C719532-73C6-4ADE-8DDB-B19D6DD87D9D}" type="pres">
      <dgm:prSet presAssocID="{00D833CA-A865-42CB-8AA7-5568B0881D7B}" presName="compNode" presStyleCnt="0"/>
      <dgm:spPr/>
    </dgm:pt>
    <dgm:pt modelId="{F3CBCDB6-29DB-4A18-AAC5-D9FDD6A6FEF1}" type="pres">
      <dgm:prSet presAssocID="{00D833CA-A865-42CB-8AA7-5568B0881D7B}" presName="bgRect" presStyleLbl="bgShp" presStyleIdx="0" presStyleCnt="4"/>
      <dgm:spPr/>
    </dgm:pt>
    <dgm:pt modelId="{EB4DF3BE-E7F2-488C-AFBF-D917796B5E8A}" type="pres">
      <dgm:prSet presAssocID="{00D833CA-A865-42CB-8AA7-5568B0881D7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6FEAB327-AE52-4A10-95B6-CEAF3ED57999}" type="pres">
      <dgm:prSet presAssocID="{00D833CA-A865-42CB-8AA7-5568B0881D7B}" presName="spaceRect" presStyleCnt="0"/>
      <dgm:spPr/>
    </dgm:pt>
    <dgm:pt modelId="{F25BAE79-A087-49F7-8F31-3B2348760A2C}" type="pres">
      <dgm:prSet presAssocID="{00D833CA-A865-42CB-8AA7-5568B0881D7B}" presName="parTx" presStyleLbl="revTx" presStyleIdx="0" presStyleCnt="4">
        <dgm:presLayoutVars>
          <dgm:chMax val="0"/>
          <dgm:chPref val="0"/>
        </dgm:presLayoutVars>
      </dgm:prSet>
      <dgm:spPr/>
    </dgm:pt>
    <dgm:pt modelId="{824D51A2-6C93-42A6-97C7-61BD3E346561}" type="pres">
      <dgm:prSet presAssocID="{CCFFA348-17DF-4B61-965F-B85B50453E3F}" presName="sibTrans" presStyleCnt="0"/>
      <dgm:spPr/>
    </dgm:pt>
    <dgm:pt modelId="{EAEA2644-33B4-46D9-9EA7-C1731300E903}" type="pres">
      <dgm:prSet presAssocID="{5A7E4B96-9A0F-4E89-9132-8DD8E93CCF79}" presName="compNode" presStyleCnt="0"/>
      <dgm:spPr/>
    </dgm:pt>
    <dgm:pt modelId="{B3D4F11A-5A43-4A51-B0A5-342AB093F39E}" type="pres">
      <dgm:prSet presAssocID="{5A7E4B96-9A0F-4E89-9132-8DD8E93CCF79}" presName="bgRect" presStyleLbl="bgShp" presStyleIdx="1" presStyleCnt="4"/>
      <dgm:spPr/>
    </dgm:pt>
    <dgm:pt modelId="{F3054C6F-DB9B-44E1-A7D0-8530F13A39A2}" type="pres">
      <dgm:prSet presAssocID="{5A7E4B96-9A0F-4E89-9132-8DD8E93CCF7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CC4B87CA-D4B1-47E6-9BD9-A7EC95FAB4EA}" type="pres">
      <dgm:prSet presAssocID="{5A7E4B96-9A0F-4E89-9132-8DD8E93CCF79}" presName="spaceRect" presStyleCnt="0"/>
      <dgm:spPr/>
    </dgm:pt>
    <dgm:pt modelId="{EB6AE14F-CC1D-40B4-A5BD-3AB8B9C71F2E}" type="pres">
      <dgm:prSet presAssocID="{5A7E4B96-9A0F-4E89-9132-8DD8E93CCF79}" presName="parTx" presStyleLbl="revTx" presStyleIdx="1" presStyleCnt="4">
        <dgm:presLayoutVars>
          <dgm:chMax val="0"/>
          <dgm:chPref val="0"/>
        </dgm:presLayoutVars>
      </dgm:prSet>
      <dgm:spPr/>
    </dgm:pt>
    <dgm:pt modelId="{030E902E-EE92-4441-82AD-1AC49C3F4701}" type="pres">
      <dgm:prSet presAssocID="{E1DECA8A-0851-4CD0-A7BA-9470CB4EAE8E}" presName="sibTrans" presStyleCnt="0"/>
      <dgm:spPr/>
    </dgm:pt>
    <dgm:pt modelId="{B48A7F79-7E52-47CD-808A-EF21AD4AA9A8}" type="pres">
      <dgm:prSet presAssocID="{B8AA577C-0B9D-4EFC-8A36-A14988FAE10A}" presName="compNode" presStyleCnt="0"/>
      <dgm:spPr/>
    </dgm:pt>
    <dgm:pt modelId="{E138AEB1-E96F-486D-91BE-221CEFE95BDA}" type="pres">
      <dgm:prSet presAssocID="{B8AA577C-0B9D-4EFC-8A36-A14988FAE10A}" presName="bgRect" presStyleLbl="bgShp" presStyleIdx="2" presStyleCnt="4"/>
      <dgm:spPr/>
    </dgm:pt>
    <dgm:pt modelId="{7017B11D-33F9-4409-9345-215629607912}" type="pres">
      <dgm:prSet presAssocID="{B8AA577C-0B9D-4EFC-8A36-A14988FAE10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D3A605FF-C1EA-444F-A4E6-097D70BAEFB9}" type="pres">
      <dgm:prSet presAssocID="{B8AA577C-0B9D-4EFC-8A36-A14988FAE10A}" presName="spaceRect" presStyleCnt="0"/>
      <dgm:spPr/>
    </dgm:pt>
    <dgm:pt modelId="{37697BA7-7BFE-4C04-ABE4-AF580C9D972D}" type="pres">
      <dgm:prSet presAssocID="{B8AA577C-0B9D-4EFC-8A36-A14988FAE10A}" presName="parTx" presStyleLbl="revTx" presStyleIdx="2" presStyleCnt="4">
        <dgm:presLayoutVars>
          <dgm:chMax val="0"/>
          <dgm:chPref val="0"/>
        </dgm:presLayoutVars>
      </dgm:prSet>
      <dgm:spPr/>
    </dgm:pt>
    <dgm:pt modelId="{A13EB695-4091-4A2D-A9DB-B18791015D0A}" type="pres">
      <dgm:prSet presAssocID="{5514B6F3-9C8F-452B-99C7-BBCC41F63D36}" presName="sibTrans" presStyleCnt="0"/>
      <dgm:spPr/>
    </dgm:pt>
    <dgm:pt modelId="{F9AF3D10-19B6-4E23-AF55-CA08DD83D843}" type="pres">
      <dgm:prSet presAssocID="{01A9ED54-ED06-4159-BF23-811D52864B84}" presName="compNode" presStyleCnt="0"/>
      <dgm:spPr/>
    </dgm:pt>
    <dgm:pt modelId="{D9560589-1602-42ED-B7F8-AD446C507878}" type="pres">
      <dgm:prSet presAssocID="{01A9ED54-ED06-4159-BF23-811D52864B84}" presName="bgRect" presStyleLbl="bgShp" presStyleIdx="3" presStyleCnt="4"/>
      <dgm:spPr/>
    </dgm:pt>
    <dgm:pt modelId="{10626F33-07D1-4426-AE48-1A2E0514F147}" type="pres">
      <dgm:prSet presAssocID="{01A9ED54-ED06-4159-BF23-811D52864B8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5B3EA0A0-7B9D-4B7C-804C-7B625E649334}" type="pres">
      <dgm:prSet presAssocID="{01A9ED54-ED06-4159-BF23-811D52864B84}" presName="spaceRect" presStyleCnt="0"/>
      <dgm:spPr/>
    </dgm:pt>
    <dgm:pt modelId="{C9F8BF3B-2715-46D2-BF7B-03C8E8284E81}" type="pres">
      <dgm:prSet presAssocID="{01A9ED54-ED06-4159-BF23-811D52864B8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67CCA10-4E88-49AE-8D21-4D72D5B02DC6}" type="presOf" srcId="{00D833CA-A865-42CB-8AA7-5568B0881D7B}" destId="{F25BAE79-A087-49F7-8F31-3B2348760A2C}" srcOrd="0" destOrd="0" presId="urn:microsoft.com/office/officeart/2018/2/layout/IconVerticalSolidList"/>
    <dgm:cxn modelId="{AFE9BA62-8F49-4722-B08B-2F0AB7AEEFA0}" type="presOf" srcId="{5A7E4B96-9A0F-4E89-9132-8DD8E93CCF79}" destId="{EB6AE14F-CC1D-40B4-A5BD-3AB8B9C71F2E}" srcOrd="0" destOrd="0" presId="urn:microsoft.com/office/officeart/2018/2/layout/IconVerticalSolidList"/>
    <dgm:cxn modelId="{65D7036A-F755-41FC-A899-6E22022B97E9}" srcId="{5000F9E3-3AF3-4C14-9D10-614C47325A3B}" destId="{5A7E4B96-9A0F-4E89-9132-8DD8E93CCF79}" srcOrd="1" destOrd="0" parTransId="{ADD5A4B0-A0A0-4F7C-A290-591C2E613F73}" sibTransId="{E1DECA8A-0851-4CD0-A7BA-9470CB4EAE8E}"/>
    <dgm:cxn modelId="{62E0E26A-E6A7-48F1-9F32-B81399F53E4D}" srcId="{5000F9E3-3AF3-4C14-9D10-614C47325A3B}" destId="{B8AA577C-0B9D-4EFC-8A36-A14988FAE10A}" srcOrd="2" destOrd="0" parTransId="{3FE54FED-A83B-448C-BE51-626A72718AB8}" sibTransId="{5514B6F3-9C8F-452B-99C7-BBCC41F63D36}"/>
    <dgm:cxn modelId="{E34EBB77-4D79-47C6-AD00-972B36E381DC}" srcId="{5000F9E3-3AF3-4C14-9D10-614C47325A3B}" destId="{01A9ED54-ED06-4159-BF23-811D52864B84}" srcOrd="3" destOrd="0" parTransId="{200972F2-6593-46BE-8CEF-5650FAEF0605}" sibTransId="{9E737972-7968-4558-BD13-E5F1CDB2DBB4}"/>
    <dgm:cxn modelId="{76D35858-783C-4201-BD99-50ECC24599AE}" type="presOf" srcId="{01A9ED54-ED06-4159-BF23-811D52864B84}" destId="{C9F8BF3B-2715-46D2-BF7B-03C8E8284E81}" srcOrd="0" destOrd="0" presId="urn:microsoft.com/office/officeart/2018/2/layout/IconVerticalSolidList"/>
    <dgm:cxn modelId="{A8151880-E198-4C05-82AD-D708A4AB302D}" type="presOf" srcId="{5000F9E3-3AF3-4C14-9D10-614C47325A3B}" destId="{71A3B989-1097-4643-9314-3DC8BE9D9B7D}" srcOrd="0" destOrd="0" presId="urn:microsoft.com/office/officeart/2018/2/layout/IconVerticalSolidList"/>
    <dgm:cxn modelId="{A5F6A492-5527-45F5-A72B-1BBE3850E028}" type="presOf" srcId="{B8AA577C-0B9D-4EFC-8A36-A14988FAE10A}" destId="{37697BA7-7BFE-4C04-ABE4-AF580C9D972D}" srcOrd="0" destOrd="0" presId="urn:microsoft.com/office/officeart/2018/2/layout/IconVerticalSolidList"/>
    <dgm:cxn modelId="{FBEC05AB-1582-43CE-82C0-F31CCE4808F6}" srcId="{5000F9E3-3AF3-4C14-9D10-614C47325A3B}" destId="{00D833CA-A865-42CB-8AA7-5568B0881D7B}" srcOrd="0" destOrd="0" parTransId="{9B7B7CA6-E459-4185-A958-17E229F10C09}" sibTransId="{CCFFA348-17DF-4B61-965F-B85B50453E3F}"/>
    <dgm:cxn modelId="{9917FDBD-D59B-4870-AEA2-B02F52849180}" type="presParOf" srcId="{71A3B989-1097-4643-9314-3DC8BE9D9B7D}" destId="{3C719532-73C6-4ADE-8DDB-B19D6DD87D9D}" srcOrd="0" destOrd="0" presId="urn:microsoft.com/office/officeart/2018/2/layout/IconVerticalSolidList"/>
    <dgm:cxn modelId="{28870D5D-A2CE-4839-993B-00B62CABB101}" type="presParOf" srcId="{3C719532-73C6-4ADE-8DDB-B19D6DD87D9D}" destId="{F3CBCDB6-29DB-4A18-AAC5-D9FDD6A6FEF1}" srcOrd="0" destOrd="0" presId="urn:microsoft.com/office/officeart/2018/2/layout/IconVerticalSolidList"/>
    <dgm:cxn modelId="{E50254F2-4CA0-4C7A-AF76-A21D953AC29F}" type="presParOf" srcId="{3C719532-73C6-4ADE-8DDB-B19D6DD87D9D}" destId="{EB4DF3BE-E7F2-488C-AFBF-D917796B5E8A}" srcOrd="1" destOrd="0" presId="urn:microsoft.com/office/officeart/2018/2/layout/IconVerticalSolidList"/>
    <dgm:cxn modelId="{BAE79AA1-E9AA-4CFC-B61A-730E57B7CBC0}" type="presParOf" srcId="{3C719532-73C6-4ADE-8DDB-B19D6DD87D9D}" destId="{6FEAB327-AE52-4A10-95B6-CEAF3ED57999}" srcOrd="2" destOrd="0" presId="urn:microsoft.com/office/officeart/2018/2/layout/IconVerticalSolidList"/>
    <dgm:cxn modelId="{82CB8E47-E7E5-4685-B3DC-AAD69D082050}" type="presParOf" srcId="{3C719532-73C6-4ADE-8DDB-B19D6DD87D9D}" destId="{F25BAE79-A087-49F7-8F31-3B2348760A2C}" srcOrd="3" destOrd="0" presId="urn:microsoft.com/office/officeart/2018/2/layout/IconVerticalSolidList"/>
    <dgm:cxn modelId="{BC88527A-82AC-4814-9F95-F81B8F9E0AC8}" type="presParOf" srcId="{71A3B989-1097-4643-9314-3DC8BE9D9B7D}" destId="{824D51A2-6C93-42A6-97C7-61BD3E346561}" srcOrd="1" destOrd="0" presId="urn:microsoft.com/office/officeart/2018/2/layout/IconVerticalSolidList"/>
    <dgm:cxn modelId="{072E6E06-9965-4C6D-B834-6DACCF469692}" type="presParOf" srcId="{71A3B989-1097-4643-9314-3DC8BE9D9B7D}" destId="{EAEA2644-33B4-46D9-9EA7-C1731300E903}" srcOrd="2" destOrd="0" presId="urn:microsoft.com/office/officeart/2018/2/layout/IconVerticalSolidList"/>
    <dgm:cxn modelId="{C22CB000-41C5-4152-A2E7-2C0B41F048F5}" type="presParOf" srcId="{EAEA2644-33B4-46D9-9EA7-C1731300E903}" destId="{B3D4F11A-5A43-4A51-B0A5-342AB093F39E}" srcOrd="0" destOrd="0" presId="urn:microsoft.com/office/officeart/2018/2/layout/IconVerticalSolidList"/>
    <dgm:cxn modelId="{185AB64E-3A5B-4243-A94F-2B93E6468DB5}" type="presParOf" srcId="{EAEA2644-33B4-46D9-9EA7-C1731300E903}" destId="{F3054C6F-DB9B-44E1-A7D0-8530F13A39A2}" srcOrd="1" destOrd="0" presId="urn:microsoft.com/office/officeart/2018/2/layout/IconVerticalSolidList"/>
    <dgm:cxn modelId="{F60A22A4-B621-4F0F-9C70-D5A11E333CA8}" type="presParOf" srcId="{EAEA2644-33B4-46D9-9EA7-C1731300E903}" destId="{CC4B87CA-D4B1-47E6-9BD9-A7EC95FAB4EA}" srcOrd="2" destOrd="0" presId="urn:microsoft.com/office/officeart/2018/2/layout/IconVerticalSolidList"/>
    <dgm:cxn modelId="{4B7C7E03-6254-4242-A7F5-DD825BFAB782}" type="presParOf" srcId="{EAEA2644-33B4-46D9-9EA7-C1731300E903}" destId="{EB6AE14F-CC1D-40B4-A5BD-3AB8B9C71F2E}" srcOrd="3" destOrd="0" presId="urn:microsoft.com/office/officeart/2018/2/layout/IconVerticalSolidList"/>
    <dgm:cxn modelId="{47AC0694-4640-4A71-94DE-3EFB497316D0}" type="presParOf" srcId="{71A3B989-1097-4643-9314-3DC8BE9D9B7D}" destId="{030E902E-EE92-4441-82AD-1AC49C3F4701}" srcOrd="3" destOrd="0" presId="urn:microsoft.com/office/officeart/2018/2/layout/IconVerticalSolidList"/>
    <dgm:cxn modelId="{18952D0B-7020-442F-8B65-2CC2833C2A63}" type="presParOf" srcId="{71A3B989-1097-4643-9314-3DC8BE9D9B7D}" destId="{B48A7F79-7E52-47CD-808A-EF21AD4AA9A8}" srcOrd="4" destOrd="0" presId="urn:microsoft.com/office/officeart/2018/2/layout/IconVerticalSolidList"/>
    <dgm:cxn modelId="{7C806D13-6B25-47DA-A021-0FC82CB575CC}" type="presParOf" srcId="{B48A7F79-7E52-47CD-808A-EF21AD4AA9A8}" destId="{E138AEB1-E96F-486D-91BE-221CEFE95BDA}" srcOrd="0" destOrd="0" presId="urn:microsoft.com/office/officeart/2018/2/layout/IconVerticalSolidList"/>
    <dgm:cxn modelId="{D9220451-4E45-4502-B501-1F28C884BC5D}" type="presParOf" srcId="{B48A7F79-7E52-47CD-808A-EF21AD4AA9A8}" destId="{7017B11D-33F9-4409-9345-215629607912}" srcOrd="1" destOrd="0" presId="urn:microsoft.com/office/officeart/2018/2/layout/IconVerticalSolidList"/>
    <dgm:cxn modelId="{4064A724-D169-4991-BD09-B639DC9723FE}" type="presParOf" srcId="{B48A7F79-7E52-47CD-808A-EF21AD4AA9A8}" destId="{D3A605FF-C1EA-444F-A4E6-097D70BAEFB9}" srcOrd="2" destOrd="0" presId="urn:microsoft.com/office/officeart/2018/2/layout/IconVerticalSolidList"/>
    <dgm:cxn modelId="{4ACB68B3-928D-4FAA-A1A7-87A75A8FA779}" type="presParOf" srcId="{B48A7F79-7E52-47CD-808A-EF21AD4AA9A8}" destId="{37697BA7-7BFE-4C04-ABE4-AF580C9D972D}" srcOrd="3" destOrd="0" presId="urn:microsoft.com/office/officeart/2018/2/layout/IconVerticalSolidList"/>
    <dgm:cxn modelId="{9B290C30-608E-4618-9E4E-7EC40F16F4EC}" type="presParOf" srcId="{71A3B989-1097-4643-9314-3DC8BE9D9B7D}" destId="{A13EB695-4091-4A2D-A9DB-B18791015D0A}" srcOrd="5" destOrd="0" presId="urn:microsoft.com/office/officeart/2018/2/layout/IconVerticalSolidList"/>
    <dgm:cxn modelId="{FA6CECE3-9F85-43FA-8209-CECC57116F54}" type="presParOf" srcId="{71A3B989-1097-4643-9314-3DC8BE9D9B7D}" destId="{F9AF3D10-19B6-4E23-AF55-CA08DD83D843}" srcOrd="6" destOrd="0" presId="urn:microsoft.com/office/officeart/2018/2/layout/IconVerticalSolidList"/>
    <dgm:cxn modelId="{6EE128AF-AF17-4700-A6BA-96C76ED98473}" type="presParOf" srcId="{F9AF3D10-19B6-4E23-AF55-CA08DD83D843}" destId="{D9560589-1602-42ED-B7F8-AD446C507878}" srcOrd="0" destOrd="0" presId="urn:microsoft.com/office/officeart/2018/2/layout/IconVerticalSolidList"/>
    <dgm:cxn modelId="{F06E9AD9-9604-4D7F-B9C1-E6037D4CAC3A}" type="presParOf" srcId="{F9AF3D10-19B6-4E23-AF55-CA08DD83D843}" destId="{10626F33-07D1-4426-AE48-1A2E0514F147}" srcOrd="1" destOrd="0" presId="urn:microsoft.com/office/officeart/2018/2/layout/IconVerticalSolidList"/>
    <dgm:cxn modelId="{4BF51F0C-A38F-468D-91F5-41707976CB46}" type="presParOf" srcId="{F9AF3D10-19B6-4E23-AF55-CA08DD83D843}" destId="{5B3EA0A0-7B9D-4B7C-804C-7B625E649334}" srcOrd="2" destOrd="0" presId="urn:microsoft.com/office/officeart/2018/2/layout/IconVerticalSolidList"/>
    <dgm:cxn modelId="{5C551DD6-9A2F-4903-A592-AFD55FBC1085}" type="presParOf" srcId="{F9AF3D10-19B6-4E23-AF55-CA08DD83D843}" destId="{C9F8BF3B-2715-46D2-BF7B-03C8E8284E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7CC191-92B7-4821-84BE-A7321E11F2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AD99E7D-052F-49E6-8499-6586C44E40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Unsupervised Domain Adaptation Using Generative Adversarial Networks for Semantic Segmentation of Aerial Images [1]</a:t>
          </a:r>
        </a:p>
      </dgm:t>
    </dgm:pt>
    <dgm:pt modelId="{8E556025-9823-48C6-A8F7-20D887C70495}" type="parTrans" cxnId="{13DF058A-A5FA-42B4-B600-FBF1DC6F5897}">
      <dgm:prSet/>
      <dgm:spPr/>
      <dgm:t>
        <a:bodyPr/>
        <a:lstStyle/>
        <a:p>
          <a:endParaRPr lang="en-US"/>
        </a:p>
      </dgm:t>
    </dgm:pt>
    <dgm:pt modelId="{FCE37F7D-AA53-47C9-936B-BFC254086AD7}" type="sibTrans" cxnId="{13DF058A-A5FA-42B4-B600-FBF1DC6F5897}">
      <dgm:prSet/>
      <dgm:spPr/>
      <dgm:t>
        <a:bodyPr/>
        <a:lstStyle/>
        <a:p>
          <a:endParaRPr lang="en-US"/>
        </a:p>
      </dgm:t>
    </dgm:pt>
    <dgm:pt modelId="{2887203F-05AE-4CE6-B96D-E2B6793C6C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Original method</a:t>
          </a:r>
          <a:r>
            <a:rPr lang="en-US"/>
            <a:t>: CycleGAN for image translation + Segmentation model (BiSNet).</a:t>
          </a:r>
        </a:p>
      </dgm:t>
    </dgm:pt>
    <dgm:pt modelId="{63C90374-2142-42FF-963F-30ACC2B76C35}" type="parTrans" cxnId="{A4FEB07E-B324-4E61-9FF3-354ED5CA7708}">
      <dgm:prSet/>
      <dgm:spPr/>
      <dgm:t>
        <a:bodyPr/>
        <a:lstStyle/>
        <a:p>
          <a:endParaRPr lang="en-US"/>
        </a:p>
      </dgm:t>
    </dgm:pt>
    <dgm:pt modelId="{3266ED59-19E0-47D7-9AE1-2B96928A6767}" type="sibTrans" cxnId="{A4FEB07E-B324-4E61-9FF3-354ED5CA7708}">
      <dgm:prSet/>
      <dgm:spPr/>
      <dgm:t>
        <a:bodyPr/>
        <a:lstStyle/>
        <a:p>
          <a:endParaRPr lang="en-US"/>
        </a:p>
      </dgm:t>
    </dgm:pt>
    <dgm:pt modelId="{D493FF7F-B906-4523-A5B8-52DE18D348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Goal</a:t>
          </a:r>
          <a:r>
            <a:rPr lang="en-US"/>
            <a:t>: Adapt source images to target domain.</a:t>
          </a:r>
        </a:p>
      </dgm:t>
    </dgm:pt>
    <dgm:pt modelId="{A7B1D6DC-3CD4-45CC-A060-13830AE92AA6}" type="parTrans" cxnId="{0B8CAB65-C166-4338-A760-F70C8C80F9B2}">
      <dgm:prSet/>
      <dgm:spPr/>
      <dgm:t>
        <a:bodyPr/>
        <a:lstStyle/>
        <a:p>
          <a:endParaRPr lang="en-US"/>
        </a:p>
      </dgm:t>
    </dgm:pt>
    <dgm:pt modelId="{5DA39186-F331-4C85-92DD-0AFCCFB9F98F}" type="sibTrans" cxnId="{0B8CAB65-C166-4338-A760-F70C8C80F9B2}">
      <dgm:prSet/>
      <dgm:spPr/>
      <dgm:t>
        <a:bodyPr/>
        <a:lstStyle/>
        <a:p>
          <a:endParaRPr lang="en-US"/>
        </a:p>
      </dgm:t>
    </dgm:pt>
    <dgm:pt modelId="{BFA9FA12-599C-4010-97B0-372223C827A6}" type="pres">
      <dgm:prSet presAssocID="{B97CC191-92B7-4821-84BE-A7321E11F27B}" presName="root" presStyleCnt="0">
        <dgm:presLayoutVars>
          <dgm:dir/>
          <dgm:resizeHandles val="exact"/>
        </dgm:presLayoutVars>
      </dgm:prSet>
      <dgm:spPr/>
    </dgm:pt>
    <dgm:pt modelId="{43996F8F-A5EB-4DB1-B4A4-D5B500680EC1}" type="pres">
      <dgm:prSet presAssocID="{9AD99E7D-052F-49E6-8499-6586C44E404B}" presName="compNode" presStyleCnt="0"/>
      <dgm:spPr/>
    </dgm:pt>
    <dgm:pt modelId="{4556CBF9-EBB0-4972-A0A9-B66B344B8B8D}" type="pres">
      <dgm:prSet presAssocID="{9AD99E7D-052F-49E6-8499-6586C44E404B}" presName="bgRect" presStyleLbl="bgShp" presStyleIdx="0" presStyleCnt="3"/>
      <dgm:spPr/>
    </dgm:pt>
    <dgm:pt modelId="{847F27FD-867C-412B-B5AE-38F68889C2AE}" type="pres">
      <dgm:prSet presAssocID="{9AD99E7D-052F-49E6-8499-6586C44E404B}" presName="iconRect" presStyleLbl="node1" presStyleIdx="0" presStyleCnt="3" custLinFactNeighborX="-24354" custLinFactNeighborY="-160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89676D06-5B6D-4F36-BA64-848C08F9EA7D}" type="pres">
      <dgm:prSet presAssocID="{9AD99E7D-052F-49E6-8499-6586C44E404B}" presName="spaceRect" presStyleCnt="0"/>
      <dgm:spPr/>
    </dgm:pt>
    <dgm:pt modelId="{198D9A78-BC77-45BA-8E8B-0DE0E3952754}" type="pres">
      <dgm:prSet presAssocID="{9AD99E7D-052F-49E6-8499-6586C44E404B}" presName="parTx" presStyleLbl="revTx" presStyleIdx="0" presStyleCnt="3" custScaleX="121696" custLinFactNeighborX="-8291" custLinFactNeighborY="6594">
        <dgm:presLayoutVars>
          <dgm:chMax val="0"/>
          <dgm:chPref val="0"/>
        </dgm:presLayoutVars>
      </dgm:prSet>
      <dgm:spPr/>
    </dgm:pt>
    <dgm:pt modelId="{FCB23F93-9E0B-4312-90C5-6AE39367ACF2}" type="pres">
      <dgm:prSet presAssocID="{FCE37F7D-AA53-47C9-936B-BFC254086AD7}" presName="sibTrans" presStyleCnt="0"/>
      <dgm:spPr/>
    </dgm:pt>
    <dgm:pt modelId="{88DFDF2E-177E-4C9A-B069-34A40EDBBEB1}" type="pres">
      <dgm:prSet presAssocID="{2887203F-05AE-4CE6-B96D-E2B6793C6C40}" presName="compNode" presStyleCnt="0"/>
      <dgm:spPr/>
    </dgm:pt>
    <dgm:pt modelId="{09C00637-E9C5-4B6A-B432-257511DEB622}" type="pres">
      <dgm:prSet presAssocID="{2887203F-05AE-4CE6-B96D-E2B6793C6C40}" presName="bgRect" presStyleLbl="bgShp" presStyleIdx="1" presStyleCnt="3"/>
      <dgm:spPr/>
    </dgm:pt>
    <dgm:pt modelId="{74608900-C901-4756-934A-5C07D944CCD1}" type="pres">
      <dgm:prSet presAssocID="{2887203F-05AE-4CE6-B96D-E2B6793C6C4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C218AF64-E3DF-461E-895F-73871AD46AB0}" type="pres">
      <dgm:prSet presAssocID="{2887203F-05AE-4CE6-B96D-E2B6793C6C40}" presName="spaceRect" presStyleCnt="0"/>
      <dgm:spPr/>
    </dgm:pt>
    <dgm:pt modelId="{B2E747C1-0283-43E4-AA38-C0F335A8DB83}" type="pres">
      <dgm:prSet presAssocID="{2887203F-05AE-4CE6-B96D-E2B6793C6C40}" presName="parTx" presStyleLbl="revTx" presStyleIdx="1" presStyleCnt="3">
        <dgm:presLayoutVars>
          <dgm:chMax val="0"/>
          <dgm:chPref val="0"/>
        </dgm:presLayoutVars>
      </dgm:prSet>
      <dgm:spPr/>
    </dgm:pt>
    <dgm:pt modelId="{083CC31A-1B10-4464-B432-C03551406B43}" type="pres">
      <dgm:prSet presAssocID="{3266ED59-19E0-47D7-9AE1-2B96928A6767}" presName="sibTrans" presStyleCnt="0"/>
      <dgm:spPr/>
    </dgm:pt>
    <dgm:pt modelId="{FED58976-2ECC-4817-B6F5-C83C19B9E16C}" type="pres">
      <dgm:prSet presAssocID="{D493FF7F-B906-4523-A5B8-52DE18D348FA}" presName="compNode" presStyleCnt="0"/>
      <dgm:spPr/>
    </dgm:pt>
    <dgm:pt modelId="{8EE92E4C-ECE4-4A55-8E61-F45B26BDF36A}" type="pres">
      <dgm:prSet presAssocID="{D493FF7F-B906-4523-A5B8-52DE18D348FA}" presName="bgRect" presStyleLbl="bgShp" presStyleIdx="2" presStyleCnt="3"/>
      <dgm:spPr/>
    </dgm:pt>
    <dgm:pt modelId="{0F70B5CF-7DAE-49AC-9130-FAD5B97D1D0C}" type="pres">
      <dgm:prSet presAssocID="{D493FF7F-B906-4523-A5B8-52DE18D348F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3878D6E-9A1D-4B5C-A47D-A7E887A6AA2A}" type="pres">
      <dgm:prSet presAssocID="{D493FF7F-B906-4523-A5B8-52DE18D348FA}" presName="spaceRect" presStyleCnt="0"/>
      <dgm:spPr/>
    </dgm:pt>
    <dgm:pt modelId="{96342573-EA19-4254-8AC0-CAE44287A2A3}" type="pres">
      <dgm:prSet presAssocID="{D493FF7F-B906-4523-A5B8-52DE18D348F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B8CAB65-C166-4338-A760-F70C8C80F9B2}" srcId="{B97CC191-92B7-4821-84BE-A7321E11F27B}" destId="{D493FF7F-B906-4523-A5B8-52DE18D348FA}" srcOrd="2" destOrd="0" parTransId="{A7B1D6DC-3CD4-45CC-A060-13830AE92AA6}" sibTransId="{5DA39186-F331-4C85-92DD-0AFCCFB9F98F}"/>
    <dgm:cxn modelId="{9921A26F-6A28-4DDC-922F-8B764D53CC20}" type="presOf" srcId="{B97CC191-92B7-4821-84BE-A7321E11F27B}" destId="{BFA9FA12-599C-4010-97B0-372223C827A6}" srcOrd="0" destOrd="0" presId="urn:microsoft.com/office/officeart/2018/2/layout/IconVerticalSolidList"/>
    <dgm:cxn modelId="{309F0775-9CE7-4E43-AB13-FC335236107E}" type="presOf" srcId="{2887203F-05AE-4CE6-B96D-E2B6793C6C40}" destId="{B2E747C1-0283-43E4-AA38-C0F335A8DB83}" srcOrd="0" destOrd="0" presId="urn:microsoft.com/office/officeart/2018/2/layout/IconVerticalSolidList"/>
    <dgm:cxn modelId="{A4FEB07E-B324-4E61-9FF3-354ED5CA7708}" srcId="{B97CC191-92B7-4821-84BE-A7321E11F27B}" destId="{2887203F-05AE-4CE6-B96D-E2B6793C6C40}" srcOrd="1" destOrd="0" parTransId="{63C90374-2142-42FF-963F-30ACC2B76C35}" sibTransId="{3266ED59-19E0-47D7-9AE1-2B96928A6767}"/>
    <dgm:cxn modelId="{3E8F7E82-EE84-40C5-A188-05883D75850D}" type="presOf" srcId="{9AD99E7D-052F-49E6-8499-6586C44E404B}" destId="{198D9A78-BC77-45BA-8E8B-0DE0E3952754}" srcOrd="0" destOrd="0" presId="urn:microsoft.com/office/officeart/2018/2/layout/IconVerticalSolidList"/>
    <dgm:cxn modelId="{13DF058A-A5FA-42B4-B600-FBF1DC6F5897}" srcId="{B97CC191-92B7-4821-84BE-A7321E11F27B}" destId="{9AD99E7D-052F-49E6-8499-6586C44E404B}" srcOrd="0" destOrd="0" parTransId="{8E556025-9823-48C6-A8F7-20D887C70495}" sibTransId="{FCE37F7D-AA53-47C9-936B-BFC254086AD7}"/>
    <dgm:cxn modelId="{192EE38F-0B81-4EB6-A116-9638EED9C9D7}" type="presOf" srcId="{D493FF7F-B906-4523-A5B8-52DE18D348FA}" destId="{96342573-EA19-4254-8AC0-CAE44287A2A3}" srcOrd="0" destOrd="0" presId="urn:microsoft.com/office/officeart/2018/2/layout/IconVerticalSolidList"/>
    <dgm:cxn modelId="{CD2EBF97-1C8A-4894-969E-7BFD023E9167}" type="presParOf" srcId="{BFA9FA12-599C-4010-97B0-372223C827A6}" destId="{43996F8F-A5EB-4DB1-B4A4-D5B500680EC1}" srcOrd="0" destOrd="0" presId="urn:microsoft.com/office/officeart/2018/2/layout/IconVerticalSolidList"/>
    <dgm:cxn modelId="{653610C7-F0A7-4B7A-BC65-382A0AD2EE67}" type="presParOf" srcId="{43996F8F-A5EB-4DB1-B4A4-D5B500680EC1}" destId="{4556CBF9-EBB0-4972-A0A9-B66B344B8B8D}" srcOrd="0" destOrd="0" presId="urn:microsoft.com/office/officeart/2018/2/layout/IconVerticalSolidList"/>
    <dgm:cxn modelId="{F3F7FA99-67EE-4E97-BC6D-4B768B6DFF07}" type="presParOf" srcId="{43996F8F-A5EB-4DB1-B4A4-D5B500680EC1}" destId="{847F27FD-867C-412B-B5AE-38F68889C2AE}" srcOrd="1" destOrd="0" presId="urn:microsoft.com/office/officeart/2018/2/layout/IconVerticalSolidList"/>
    <dgm:cxn modelId="{7607BD5A-0B6B-4C67-BD29-37D861BB5B41}" type="presParOf" srcId="{43996F8F-A5EB-4DB1-B4A4-D5B500680EC1}" destId="{89676D06-5B6D-4F36-BA64-848C08F9EA7D}" srcOrd="2" destOrd="0" presId="urn:microsoft.com/office/officeart/2018/2/layout/IconVerticalSolidList"/>
    <dgm:cxn modelId="{519F2387-A765-4E33-9B7B-B9ED74DBC270}" type="presParOf" srcId="{43996F8F-A5EB-4DB1-B4A4-D5B500680EC1}" destId="{198D9A78-BC77-45BA-8E8B-0DE0E3952754}" srcOrd="3" destOrd="0" presId="urn:microsoft.com/office/officeart/2018/2/layout/IconVerticalSolidList"/>
    <dgm:cxn modelId="{1A026F22-FDF1-445B-AD70-95DDCAFE25A3}" type="presParOf" srcId="{BFA9FA12-599C-4010-97B0-372223C827A6}" destId="{FCB23F93-9E0B-4312-90C5-6AE39367ACF2}" srcOrd="1" destOrd="0" presId="urn:microsoft.com/office/officeart/2018/2/layout/IconVerticalSolidList"/>
    <dgm:cxn modelId="{FD9A72D7-A7D3-4404-A2F6-FFDA96768C7B}" type="presParOf" srcId="{BFA9FA12-599C-4010-97B0-372223C827A6}" destId="{88DFDF2E-177E-4C9A-B069-34A40EDBBEB1}" srcOrd="2" destOrd="0" presId="urn:microsoft.com/office/officeart/2018/2/layout/IconVerticalSolidList"/>
    <dgm:cxn modelId="{C17CB7B7-91A1-4931-917A-943B3AF7328B}" type="presParOf" srcId="{88DFDF2E-177E-4C9A-B069-34A40EDBBEB1}" destId="{09C00637-E9C5-4B6A-B432-257511DEB622}" srcOrd="0" destOrd="0" presId="urn:microsoft.com/office/officeart/2018/2/layout/IconVerticalSolidList"/>
    <dgm:cxn modelId="{74908B51-0EE7-4D8B-9D3B-6AE13E8AA849}" type="presParOf" srcId="{88DFDF2E-177E-4C9A-B069-34A40EDBBEB1}" destId="{74608900-C901-4756-934A-5C07D944CCD1}" srcOrd="1" destOrd="0" presId="urn:microsoft.com/office/officeart/2018/2/layout/IconVerticalSolidList"/>
    <dgm:cxn modelId="{9DBD2640-6735-4A48-BED2-A7F4960F6DC0}" type="presParOf" srcId="{88DFDF2E-177E-4C9A-B069-34A40EDBBEB1}" destId="{C218AF64-E3DF-461E-895F-73871AD46AB0}" srcOrd="2" destOrd="0" presId="urn:microsoft.com/office/officeart/2018/2/layout/IconVerticalSolidList"/>
    <dgm:cxn modelId="{BCA455F1-F921-4DF1-A79B-404A04B9D6C6}" type="presParOf" srcId="{88DFDF2E-177E-4C9A-B069-34A40EDBBEB1}" destId="{B2E747C1-0283-43E4-AA38-C0F335A8DB83}" srcOrd="3" destOrd="0" presId="urn:microsoft.com/office/officeart/2018/2/layout/IconVerticalSolidList"/>
    <dgm:cxn modelId="{CE622938-B17E-4818-8630-919ED5585D34}" type="presParOf" srcId="{BFA9FA12-599C-4010-97B0-372223C827A6}" destId="{083CC31A-1B10-4464-B432-C03551406B43}" srcOrd="3" destOrd="0" presId="urn:microsoft.com/office/officeart/2018/2/layout/IconVerticalSolidList"/>
    <dgm:cxn modelId="{00E6981F-4F2E-435E-B8B8-082B7F0EDF37}" type="presParOf" srcId="{BFA9FA12-599C-4010-97B0-372223C827A6}" destId="{FED58976-2ECC-4817-B6F5-C83C19B9E16C}" srcOrd="4" destOrd="0" presId="urn:microsoft.com/office/officeart/2018/2/layout/IconVerticalSolidList"/>
    <dgm:cxn modelId="{31E291EE-5371-4EE6-953F-2D4BFCD2D77A}" type="presParOf" srcId="{FED58976-2ECC-4817-B6F5-C83C19B9E16C}" destId="{8EE92E4C-ECE4-4A55-8E61-F45B26BDF36A}" srcOrd="0" destOrd="0" presId="urn:microsoft.com/office/officeart/2018/2/layout/IconVerticalSolidList"/>
    <dgm:cxn modelId="{14391979-F4A1-4BED-BA1F-D1DCDC535698}" type="presParOf" srcId="{FED58976-2ECC-4817-B6F5-C83C19B9E16C}" destId="{0F70B5CF-7DAE-49AC-9130-FAD5B97D1D0C}" srcOrd="1" destOrd="0" presId="urn:microsoft.com/office/officeart/2018/2/layout/IconVerticalSolidList"/>
    <dgm:cxn modelId="{6D245115-8E22-41C7-B795-57FC01B2FF1F}" type="presParOf" srcId="{FED58976-2ECC-4817-B6F5-C83C19B9E16C}" destId="{B3878D6E-9A1D-4B5C-A47D-A7E887A6AA2A}" srcOrd="2" destOrd="0" presId="urn:microsoft.com/office/officeart/2018/2/layout/IconVerticalSolidList"/>
    <dgm:cxn modelId="{A59CA767-E71C-4E76-8BF0-D1140745957C}" type="presParOf" srcId="{FED58976-2ECC-4817-B6F5-C83C19B9E16C}" destId="{96342573-EA19-4254-8AC0-CAE44287A2A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045C93-EFAF-4BB9-9EAA-D06052FA490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9A01E9-82AD-43F7-98EC-7459EE9DF8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Better accuracy in segmentation model</a:t>
          </a:r>
        </a:p>
      </dgm:t>
    </dgm:pt>
    <dgm:pt modelId="{B03E8F47-74B0-4910-B22B-4F55A3704A94}" type="parTrans" cxnId="{7A6C927E-AA49-4926-96AC-09EAA39CB985}">
      <dgm:prSet/>
      <dgm:spPr/>
      <dgm:t>
        <a:bodyPr/>
        <a:lstStyle/>
        <a:p>
          <a:endParaRPr lang="en-US"/>
        </a:p>
      </dgm:t>
    </dgm:pt>
    <dgm:pt modelId="{7B4C8471-C0D9-4644-948A-F0AE023B0D40}" type="sibTrans" cxnId="{7A6C927E-AA49-4926-96AC-09EAA39CB985}">
      <dgm:prSet/>
      <dgm:spPr/>
      <dgm:t>
        <a:bodyPr/>
        <a:lstStyle/>
        <a:p>
          <a:endParaRPr lang="en-US"/>
        </a:p>
      </dgm:t>
    </dgm:pt>
    <dgm:pt modelId="{5529E589-5A1D-4119-BC28-51CA2BCFAC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Significantly improved over the baseline.</a:t>
          </a:r>
        </a:p>
      </dgm:t>
    </dgm:pt>
    <dgm:pt modelId="{C908FB69-6D60-4350-A926-D322F28FB544}" type="parTrans" cxnId="{FAE2B36F-99F5-4A4E-B6F7-E2E690DB131B}">
      <dgm:prSet/>
      <dgm:spPr/>
      <dgm:t>
        <a:bodyPr/>
        <a:lstStyle/>
        <a:p>
          <a:endParaRPr lang="en-US"/>
        </a:p>
      </dgm:t>
    </dgm:pt>
    <dgm:pt modelId="{57C57B4D-33A3-4346-9C80-0500CCCEF75F}" type="sibTrans" cxnId="{FAE2B36F-99F5-4A4E-B6F7-E2E690DB131B}">
      <dgm:prSet/>
      <dgm:spPr/>
      <dgm:t>
        <a:bodyPr/>
        <a:lstStyle/>
        <a:p>
          <a:endParaRPr lang="en-US"/>
        </a:p>
      </dgm:t>
    </dgm:pt>
    <dgm:pt modelId="{F3BDC568-303E-4DF1-86CC-E02DCCFBDA31}" type="pres">
      <dgm:prSet presAssocID="{34045C93-EFAF-4BB9-9EAA-D06052FA490C}" presName="root" presStyleCnt="0">
        <dgm:presLayoutVars>
          <dgm:dir/>
          <dgm:resizeHandles val="exact"/>
        </dgm:presLayoutVars>
      </dgm:prSet>
      <dgm:spPr/>
    </dgm:pt>
    <dgm:pt modelId="{1E40C3A1-A83F-44E2-AD09-397C4F3DB2BE}" type="pres">
      <dgm:prSet presAssocID="{419A01E9-82AD-43F7-98EC-7459EE9DF84F}" presName="compNode" presStyleCnt="0"/>
      <dgm:spPr/>
    </dgm:pt>
    <dgm:pt modelId="{E4849D05-81A1-44C1-9C9D-DE9C38227F9F}" type="pres">
      <dgm:prSet presAssocID="{419A01E9-82AD-43F7-98EC-7459EE9DF84F}" presName="bgRect" presStyleLbl="bgShp" presStyleIdx="0" presStyleCnt="2"/>
      <dgm:spPr/>
    </dgm:pt>
    <dgm:pt modelId="{F6A034A4-FFEF-4EDB-9050-E7BA75F59C5E}" type="pres">
      <dgm:prSet presAssocID="{419A01E9-82AD-43F7-98EC-7459EE9DF84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78BF691C-33A1-417B-9936-ABD82F826153}" type="pres">
      <dgm:prSet presAssocID="{419A01E9-82AD-43F7-98EC-7459EE9DF84F}" presName="spaceRect" presStyleCnt="0"/>
      <dgm:spPr/>
    </dgm:pt>
    <dgm:pt modelId="{EDBC091A-0262-4E30-9C3B-559A2D296C1E}" type="pres">
      <dgm:prSet presAssocID="{419A01E9-82AD-43F7-98EC-7459EE9DF84F}" presName="parTx" presStyleLbl="revTx" presStyleIdx="0" presStyleCnt="2">
        <dgm:presLayoutVars>
          <dgm:chMax val="0"/>
          <dgm:chPref val="0"/>
        </dgm:presLayoutVars>
      </dgm:prSet>
      <dgm:spPr/>
    </dgm:pt>
    <dgm:pt modelId="{B6875F01-1600-4711-944C-51B0302ADE85}" type="pres">
      <dgm:prSet presAssocID="{7B4C8471-C0D9-4644-948A-F0AE023B0D40}" presName="sibTrans" presStyleCnt="0"/>
      <dgm:spPr/>
    </dgm:pt>
    <dgm:pt modelId="{40549CA5-31A2-4242-938C-2CB39EC241C0}" type="pres">
      <dgm:prSet presAssocID="{5529E589-5A1D-4119-BC28-51CA2BCFAC2F}" presName="compNode" presStyleCnt="0"/>
      <dgm:spPr/>
    </dgm:pt>
    <dgm:pt modelId="{43C28B39-91CE-44F3-8E1F-2B2300FBEFF7}" type="pres">
      <dgm:prSet presAssocID="{5529E589-5A1D-4119-BC28-51CA2BCFAC2F}" presName="bgRect" presStyleLbl="bgShp" presStyleIdx="1" presStyleCnt="2"/>
      <dgm:spPr/>
    </dgm:pt>
    <dgm:pt modelId="{AEE4363D-97A7-4B38-885B-4240C4487C07}" type="pres">
      <dgm:prSet presAssocID="{5529E589-5A1D-4119-BC28-51CA2BCFAC2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68B9B73B-8FF5-489F-B7CB-7C4FC540F929}" type="pres">
      <dgm:prSet presAssocID="{5529E589-5A1D-4119-BC28-51CA2BCFAC2F}" presName="spaceRect" presStyleCnt="0"/>
      <dgm:spPr/>
    </dgm:pt>
    <dgm:pt modelId="{3B4F64BF-FDE4-44AE-A0EF-4A871799548E}" type="pres">
      <dgm:prSet presAssocID="{5529E589-5A1D-4119-BC28-51CA2BCFAC2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70D2D0A-1F64-44C2-AAD7-F774139F8684}" type="presOf" srcId="{5529E589-5A1D-4119-BC28-51CA2BCFAC2F}" destId="{3B4F64BF-FDE4-44AE-A0EF-4A871799548E}" srcOrd="0" destOrd="0" presId="urn:microsoft.com/office/officeart/2018/2/layout/IconVerticalSolidList"/>
    <dgm:cxn modelId="{243FF96E-8A2A-4F2B-B49A-5E8FA4295FB5}" type="presOf" srcId="{34045C93-EFAF-4BB9-9EAA-D06052FA490C}" destId="{F3BDC568-303E-4DF1-86CC-E02DCCFBDA31}" srcOrd="0" destOrd="0" presId="urn:microsoft.com/office/officeart/2018/2/layout/IconVerticalSolidList"/>
    <dgm:cxn modelId="{FAE2B36F-99F5-4A4E-B6F7-E2E690DB131B}" srcId="{34045C93-EFAF-4BB9-9EAA-D06052FA490C}" destId="{5529E589-5A1D-4119-BC28-51CA2BCFAC2F}" srcOrd="1" destOrd="0" parTransId="{C908FB69-6D60-4350-A926-D322F28FB544}" sibTransId="{57C57B4D-33A3-4346-9C80-0500CCCEF75F}"/>
    <dgm:cxn modelId="{7A6C927E-AA49-4926-96AC-09EAA39CB985}" srcId="{34045C93-EFAF-4BB9-9EAA-D06052FA490C}" destId="{419A01E9-82AD-43F7-98EC-7459EE9DF84F}" srcOrd="0" destOrd="0" parTransId="{B03E8F47-74B0-4910-B22B-4F55A3704A94}" sibTransId="{7B4C8471-C0D9-4644-948A-F0AE023B0D40}"/>
    <dgm:cxn modelId="{1C4E8B95-D45E-4878-9121-381DB8624DDE}" type="presOf" srcId="{419A01E9-82AD-43F7-98EC-7459EE9DF84F}" destId="{EDBC091A-0262-4E30-9C3B-559A2D296C1E}" srcOrd="0" destOrd="0" presId="urn:microsoft.com/office/officeart/2018/2/layout/IconVerticalSolidList"/>
    <dgm:cxn modelId="{B19CE378-BA06-433D-AA46-AEE4EC8A2B07}" type="presParOf" srcId="{F3BDC568-303E-4DF1-86CC-E02DCCFBDA31}" destId="{1E40C3A1-A83F-44E2-AD09-397C4F3DB2BE}" srcOrd="0" destOrd="0" presId="urn:microsoft.com/office/officeart/2018/2/layout/IconVerticalSolidList"/>
    <dgm:cxn modelId="{9E10D6CA-C050-47AB-9039-2A291A836FB6}" type="presParOf" srcId="{1E40C3A1-A83F-44E2-AD09-397C4F3DB2BE}" destId="{E4849D05-81A1-44C1-9C9D-DE9C38227F9F}" srcOrd="0" destOrd="0" presId="urn:microsoft.com/office/officeart/2018/2/layout/IconVerticalSolidList"/>
    <dgm:cxn modelId="{5A2E1B07-0AE2-4CE0-B936-EE9D2F123468}" type="presParOf" srcId="{1E40C3A1-A83F-44E2-AD09-397C4F3DB2BE}" destId="{F6A034A4-FFEF-4EDB-9050-E7BA75F59C5E}" srcOrd="1" destOrd="0" presId="urn:microsoft.com/office/officeart/2018/2/layout/IconVerticalSolidList"/>
    <dgm:cxn modelId="{281D2CE2-CE94-43E6-AF98-4485C429FE0B}" type="presParOf" srcId="{1E40C3A1-A83F-44E2-AD09-397C4F3DB2BE}" destId="{78BF691C-33A1-417B-9936-ABD82F826153}" srcOrd="2" destOrd="0" presId="urn:microsoft.com/office/officeart/2018/2/layout/IconVerticalSolidList"/>
    <dgm:cxn modelId="{7066654F-116A-4D75-9D2D-60FB1D00021B}" type="presParOf" srcId="{1E40C3A1-A83F-44E2-AD09-397C4F3DB2BE}" destId="{EDBC091A-0262-4E30-9C3B-559A2D296C1E}" srcOrd="3" destOrd="0" presId="urn:microsoft.com/office/officeart/2018/2/layout/IconVerticalSolidList"/>
    <dgm:cxn modelId="{4DB2BE95-6384-4A73-A6DF-DA54A58B271E}" type="presParOf" srcId="{F3BDC568-303E-4DF1-86CC-E02DCCFBDA31}" destId="{B6875F01-1600-4711-944C-51B0302ADE85}" srcOrd="1" destOrd="0" presId="urn:microsoft.com/office/officeart/2018/2/layout/IconVerticalSolidList"/>
    <dgm:cxn modelId="{851634F9-F77F-4F74-96A3-92BF2B40A67F}" type="presParOf" srcId="{F3BDC568-303E-4DF1-86CC-E02DCCFBDA31}" destId="{40549CA5-31A2-4242-938C-2CB39EC241C0}" srcOrd="2" destOrd="0" presId="urn:microsoft.com/office/officeart/2018/2/layout/IconVerticalSolidList"/>
    <dgm:cxn modelId="{D43A3807-9016-4094-8A5F-03350B8A4824}" type="presParOf" srcId="{40549CA5-31A2-4242-938C-2CB39EC241C0}" destId="{43C28B39-91CE-44F3-8E1F-2B2300FBEFF7}" srcOrd="0" destOrd="0" presId="urn:microsoft.com/office/officeart/2018/2/layout/IconVerticalSolidList"/>
    <dgm:cxn modelId="{25BD8304-DD5C-44CD-9AD5-BE78B01ACD4A}" type="presParOf" srcId="{40549CA5-31A2-4242-938C-2CB39EC241C0}" destId="{AEE4363D-97A7-4B38-885B-4240C4487C07}" srcOrd="1" destOrd="0" presId="urn:microsoft.com/office/officeart/2018/2/layout/IconVerticalSolidList"/>
    <dgm:cxn modelId="{104AAA8F-68D6-4E23-8F6B-E97F71943B2C}" type="presParOf" srcId="{40549CA5-31A2-4242-938C-2CB39EC241C0}" destId="{68B9B73B-8FF5-489F-B7CB-7C4FC540F929}" srcOrd="2" destOrd="0" presId="urn:microsoft.com/office/officeart/2018/2/layout/IconVerticalSolidList"/>
    <dgm:cxn modelId="{250FFCD8-8947-44AA-98DB-A0D61EDCEBA7}" type="presParOf" srcId="{40549CA5-31A2-4242-938C-2CB39EC241C0}" destId="{3B4F64BF-FDE4-44AE-A0EF-4A87179954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CBCDB6-29DB-4A18-AAC5-D9FDD6A6FEF1}">
      <dsp:nvSpPr>
        <dsp:cNvPr id="0" name=""/>
        <dsp:cNvSpPr/>
      </dsp:nvSpPr>
      <dsp:spPr>
        <a:xfrm>
          <a:off x="0" y="2096"/>
          <a:ext cx="5182791" cy="10625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4DF3BE-E7F2-488C-AFBF-D917796B5E8A}">
      <dsp:nvSpPr>
        <dsp:cNvPr id="0" name=""/>
        <dsp:cNvSpPr/>
      </dsp:nvSpPr>
      <dsp:spPr>
        <a:xfrm>
          <a:off x="321428" y="241175"/>
          <a:ext cx="584416" cy="5844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5BAE79-A087-49F7-8F31-3B2348760A2C}">
      <dsp:nvSpPr>
        <dsp:cNvPr id="0" name=""/>
        <dsp:cNvSpPr/>
      </dsp:nvSpPr>
      <dsp:spPr>
        <a:xfrm>
          <a:off x="1227274" y="2096"/>
          <a:ext cx="3955516" cy="1062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456" tIns="112456" rIns="112456" bIns="11245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Satellite Image Analysis (Urban Mapping)</a:t>
          </a:r>
        </a:p>
      </dsp:txBody>
      <dsp:txXfrm>
        <a:off x="1227274" y="2096"/>
        <a:ext cx="3955516" cy="1062575"/>
      </dsp:txXfrm>
    </dsp:sp>
    <dsp:sp modelId="{B3D4F11A-5A43-4A51-B0A5-342AB093F39E}">
      <dsp:nvSpPr>
        <dsp:cNvPr id="0" name=""/>
        <dsp:cNvSpPr/>
      </dsp:nvSpPr>
      <dsp:spPr>
        <a:xfrm>
          <a:off x="0" y="1330315"/>
          <a:ext cx="5182791" cy="10625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54C6F-DB9B-44E1-A7D0-8530F13A39A2}">
      <dsp:nvSpPr>
        <dsp:cNvPr id="0" name=""/>
        <dsp:cNvSpPr/>
      </dsp:nvSpPr>
      <dsp:spPr>
        <a:xfrm>
          <a:off x="321428" y="1569394"/>
          <a:ext cx="584416" cy="5844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6AE14F-CC1D-40B4-A5BD-3AB8B9C71F2E}">
      <dsp:nvSpPr>
        <dsp:cNvPr id="0" name=""/>
        <dsp:cNvSpPr/>
      </dsp:nvSpPr>
      <dsp:spPr>
        <a:xfrm>
          <a:off x="1227274" y="1330315"/>
          <a:ext cx="3955516" cy="1062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456" tIns="112456" rIns="112456" bIns="11245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Autonomous Driving (Self-driving cars)</a:t>
          </a:r>
        </a:p>
      </dsp:txBody>
      <dsp:txXfrm>
        <a:off x="1227274" y="1330315"/>
        <a:ext cx="3955516" cy="1062575"/>
      </dsp:txXfrm>
    </dsp:sp>
    <dsp:sp modelId="{E138AEB1-E96F-486D-91BE-221CEFE95BDA}">
      <dsp:nvSpPr>
        <dsp:cNvPr id="0" name=""/>
        <dsp:cNvSpPr/>
      </dsp:nvSpPr>
      <dsp:spPr>
        <a:xfrm>
          <a:off x="0" y="2658534"/>
          <a:ext cx="5182791" cy="10625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17B11D-33F9-4409-9345-215629607912}">
      <dsp:nvSpPr>
        <dsp:cNvPr id="0" name=""/>
        <dsp:cNvSpPr/>
      </dsp:nvSpPr>
      <dsp:spPr>
        <a:xfrm>
          <a:off x="321428" y="2897613"/>
          <a:ext cx="584416" cy="5844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97BA7-7BFE-4C04-ABE4-AF580C9D972D}">
      <dsp:nvSpPr>
        <dsp:cNvPr id="0" name=""/>
        <dsp:cNvSpPr/>
      </dsp:nvSpPr>
      <dsp:spPr>
        <a:xfrm>
          <a:off x="1227274" y="2658534"/>
          <a:ext cx="3955516" cy="1062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456" tIns="112456" rIns="112456" bIns="11245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Medical Imaging (MRI &amp; CT scans)</a:t>
          </a:r>
        </a:p>
      </dsp:txBody>
      <dsp:txXfrm>
        <a:off x="1227274" y="2658534"/>
        <a:ext cx="3955516" cy="1062575"/>
      </dsp:txXfrm>
    </dsp:sp>
    <dsp:sp modelId="{D9560589-1602-42ED-B7F8-AD446C507878}">
      <dsp:nvSpPr>
        <dsp:cNvPr id="0" name=""/>
        <dsp:cNvSpPr/>
      </dsp:nvSpPr>
      <dsp:spPr>
        <a:xfrm>
          <a:off x="0" y="3986753"/>
          <a:ext cx="5182791" cy="10625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626F33-07D1-4426-AE48-1A2E0514F147}">
      <dsp:nvSpPr>
        <dsp:cNvPr id="0" name=""/>
        <dsp:cNvSpPr/>
      </dsp:nvSpPr>
      <dsp:spPr>
        <a:xfrm>
          <a:off x="321428" y="4225832"/>
          <a:ext cx="584416" cy="5844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8BF3B-2715-46D2-BF7B-03C8E8284E81}">
      <dsp:nvSpPr>
        <dsp:cNvPr id="0" name=""/>
        <dsp:cNvSpPr/>
      </dsp:nvSpPr>
      <dsp:spPr>
        <a:xfrm>
          <a:off x="1227274" y="3986753"/>
          <a:ext cx="3955516" cy="1062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456" tIns="112456" rIns="112456" bIns="11245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Industrial IoT</a:t>
          </a:r>
        </a:p>
      </dsp:txBody>
      <dsp:txXfrm>
        <a:off x="1227274" y="3986753"/>
        <a:ext cx="3955516" cy="10625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6CBF9-EBB0-4972-A0A9-B66B344B8B8D}">
      <dsp:nvSpPr>
        <dsp:cNvPr id="0" name=""/>
        <dsp:cNvSpPr/>
      </dsp:nvSpPr>
      <dsp:spPr>
        <a:xfrm>
          <a:off x="-115836" y="6906"/>
          <a:ext cx="3845379" cy="1048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F27FD-867C-412B-B5AE-38F68889C2AE}">
      <dsp:nvSpPr>
        <dsp:cNvPr id="0" name=""/>
        <dsp:cNvSpPr/>
      </dsp:nvSpPr>
      <dsp:spPr>
        <a:xfrm>
          <a:off x="60564" y="233479"/>
          <a:ext cx="577634" cy="5765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8D9A78-BC77-45BA-8E8B-0DE0E3952754}">
      <dsp:nvSpPr>
        <dsp:cNvPr id="0" name=""/>
        <dsp:cNvSpPr/>
      </dsp:nvSpPr>
      <dsp:spPr>
        <a:xfrm>
          <a:off x="601238" y="76092"/>
          <a:ext cx="3145666" cy="1049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042" tIns="111042" rIns="111042" bIns="11104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Unsupervised Domain Adaptation Using Generative Adversarial Networks for Semantic Segmentation of Aerial Images [1]</a:t>
          </a:r>
        </a:p>
      </dsp:txBody>
      <dsp:txXfrm>
        <a:off x="601238" y="76092"/>
        <a:ext cx="3145666" cy="1049218"/>
      </dsp:txXfrm>
    </dsp:sp>
    <dsp:sp modelId="{09C00637-E9C5-4B6A-B432-257511DEB622}">
      <dsp:nvSpPr>
        <dsp:cNvPr id="0" name=""/>
        <dsp:cNvSpPr/>
      </dsp:nvSpPr>
      <dsp:spPr>
        <a:xfrm>
          <a:off x="-115836" y="1310480"/>
          <a:ext cx="3845379" cy="1048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608900-C901-4756-934A-5C07D944CCD1}">
      <dsp:nvSpPr>
        <dsp:cNvPr id="0" name=""/>
        <dsp:cNvSpPr/>
      </dsp:nvSpPr>
      <dsp:spPr>
        <a:xfrm>
          <a:off x="201241" y="1546324"/>
          <a:ext cx="577634" cy="5765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E747C1-0283-43E4-AA38-C0F335A8DB83}">
      <dsp:nvSpPr>
        <dsp:cNvPr id="0" name=""/>
        <dsp:cNvSpPr/>
      </dsp:nvSpPr>
      <dsp:spPr>
        <a:xfrm>
          <a:off x="1095954" y="1310480"/>
          <a:ext cx="2584856" cy="1049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042" tIns="111042" rIns="111042" bIns="11104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Original method</a:t>
          </a:r>
          <a:r>
            <a:rPr lang="en-US" sz="1400" kern="1200"/>
            <a:t>: CycleGAN for image translation + Segmentation model (BiSNet).</a:t>
          </a:r>
        </a:p>
      </dsp:txBody>
      <dsp:txXfrm>
        <a:off x="1095954" y="1310480"/>
        <a:ext cx="2584856" cy="1049218"/>
      </dsp:txXfrm>
    </dsp:sp>
    <dsp:sp modelId="{8EE92E4C-ECE4-4A55-8E61-F45B26BDF36A}">
      <dsp:nvSpPr>
        <dsp:cNvPr id="0" name=""/>
        <dsp:cNvSpPr/>
      </dsp:nvSpPr>
      <dsp:spPr>
        <a:xfrm>
          <a:off x="-115836" y="2614055"/>
          <a:ext cx="3845379" cy="1048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70B5CF-7DAE-49AC-9130-FAD5B97D1D0C}">
      <dsp:nvSpPr>
        <dsp:cNvPr id="0" name=""/>
        <dsp:cNvSpPr/>
      </dsp:nvSpPr>
      <dsp:spPr>
        <a:xfrm>
          <a:off x="201241" y="2849898"/>
          <a:ext cx="577634" cy="5765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42573-EA19-4254-8AC0-CAE44287A2A3}">
      <dsp:nvSpPr>
        <dsp:cNvPr id="0" name=""/>
        <dsp:cNvSpPr/>
      </dsp:nvSpPr>
      <dsp:spPr>
        <a:xfrm>
          <a:off x="1095954" y="2614055"/>
          <a:ext cx="2584856" cy="1049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042" tIns="111042" rIns="111042" bIns="11104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Goal</a:t>
          </a:r>
          <a:r>
            <a:rPr lang="en-US" sz="1400" kern="1200"/>
            <a:t>: Adapt source images to target domain.</a:t>
          </a:r>
        </a:p>
      </dsp:txBody>
      <dsp:txXfrm>
        <a:off x="1095954" y="2614055"/>
        <a:ext cx="2584856" cy="10492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849D05-81A1-44C1-9C9D-DE9C38227F9F}">
      <dsp:nvSpPr>
        <dsp:cNvPr id="0" name=""/>
        <dsp:cNvSpPr/>
      </dsp:nvSpPr>
      <dsp:spPr>
        <a:xfrm>
          <a:off x="0" y="918110"/>
          <a:ext cx="5098256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034A4-FFEF-4EDB-9050-E7BA75F59C5E}">
      <dsp:nvSpPr>
        <dsp:cNvPr id="0" name=""/>
        <dsp:cNvSpPr/>
      </dsp:nvSpPr>
      <dsp:spPr>
        <a:xfrm>
          <a:off x="512729" y="1299479"/>
          <a:ext cx="932235" cy="9322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BC091A-0262-4E30-9C3B-559A2D296C1E}">
      <dsp:nvSpPr>
        <dsp:cNvPr id="0" name=""/>
        <dsp:cNvSpPr/>
      </dsp:nvSpPr>
      <dsp:spPr>
        <a:xfrm>
          <a:off x="1957694" y="918110"/>
          <a:ext cx="3140561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Better accuracy in segmentation model</a:t>
          </a:r>
        </a:p>
      </dsp:txBody>
      <dsp:txXfrm>
        <a:off x="1957694" y="918110"/>
        <a:ext cx="3140561" cy="1694973"/>
      </dsp:txXfrm>
    </dsp:sp>
    <dsp:sp modelId="{43C28B39-91CE-44F3-8E1F-2B2300FBEFF7}">
      <dsp:nvSpPr>
        <dsp:cNvPr id="0" name=""/>
        <dsp:cNvSpPr/>
      </dsp:nvSpPr>
      <dsp:spPr>
        <a:xfrm>
          <a:off x="0" y="3036827"/>
          <a:ext cx="5098256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E4363D-97A7-4B38-885B-4240C4487C07}">
      <dsp:nvSpPr>
        <dsp:cNvPr id="0" name=""/>
        <dsp:cNvSpPr/>
      </dsp:nvSpPr>
      <dsp:spPr>
        <a:xfrm>
          <a:off x="512729" y="3418196"/>
          <a:ext cx="932235" cy="9322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4F64BF-FDE4-44AE-A0EF-4A871799548E}">
      <dsp:nvSpPr>
        <dsp:cNvPr id="0" name=""/>
        <dsp:cNvSpPr/>
      </dsp:nvSpPr>
      <dsp:spPr>
        <a:xfrm>
          <a:off x="1957694" y="3036827"/>
          <a:ext cx="3140561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Significantly improved over the baseline.</a:t>
          </a:r>
        </a:p>
      </dsp:txBody>
      <dsp:txXfrm>
        <a:off x="1957694" y="3036827"/>
        <a:ext cx="3140561" cy="16949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44D0AE-F6C3-48C5-AA54-924E529F703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61F1B-64CB-4128-977B-F46A3A8BA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71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"</a:t>
            </a:r>
            <a:r>
              <a:rPr lang="en-US" b="1" dirty="0"/>
              <a:t>Semantic segmentation</a:t>
            </a:r>
            <a:r>
              <a:rPr lang="en-US" dirty="0"/>
              <a:t> is the task of labeling each pixel in an image with a category, such as road, building, or vegetation.</a:t>
            </a:r>
            <a:br>
              <a:rPr lang="en-US" dirty="0"/>
            </a:br>
            <a:r>
              <a:rPr lang="en-US" dirty="0"/>
              <a:t>However, a segmentation model trained on one dataset often struggles when applied to new, unseen data — due to differences like lighting, sensor type, or image resolution. Which we call Domain gap“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And this is where we benefit from something called:</a:t>
            </a:r>
          </a:p>
          <a:p>
            <a:r>
              <a:rPr lang="en-US" dirty="0"/>
              <a:t>"</a:t>
            </a:r>
            <a:r>
              <a:rPr lang="en-US" b="1" dirty="0"/>
              <a:t>Domain adaptation</a:t>
            </a:r>
            <a:r>
              <a:rPr lang="en-US" dirty="0"/>
              <a:t> addresses this challenge by helping the model adjust to the new domain without needing additional manual labeling.</a:t>
            </a:r>
            <a:br>
              <a:rPr lang="en-US" dirty="0"/>
            </a:br>
            <a:r>
              <a:rPr lang="en-US" dirty="0"/>
              <a:t>In other words, domain adaptation ensures that a segmentation model can generalize and perform well even when the input images come from different sources."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61F1B-64CB-4128-977B-F46A3A8BAD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4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helps </a:t>
            </a:r>
            <a:r>
              <a:rPr lang="en-US" b="1" dirty="0"/>
              <a:t>segment buildings, roads, vegetation</a:t>
            </a:r>
            <a:r>
              <a:rPr lang="en-US" dirty="0"/>
              <a:t> correctly even when the source and target satellite images are very different.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Helps correctly </a:t>
            </a:r>
            <a:r>
              <a:rPr lang="en-US" b="1" dirty="0"/>
              <a:t>detect roads, pedestrians, and traffic signs</a:t>
            </a:r>
            <a:r>
              <a:rPr lang="en-US" dirty="0"/>
              <a:t> in different weather and lighting conditions without retraining.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ensures that </a:t>
            </a:r>
            <a:r>
              <a:rPr lang="en-US" b="1" dirty="0"/>
              <a:t>tumor segmentation models</a:t>
            </a:r>
            <a:r>
              <a:rPr lang="en-US" dirty="0"/>
              <a:t> work reliably across different imaging devices and hospitals.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As for </a:t>
            </a:r>
            <a:r>
              <a:rPr lang="en-US" dirty="0" err="1"/>
              <a:t>IIoT</a:t>
            </a:r>
            <a:r>
              <a:rPr lang="en-US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Factory Equipment Monitoring: segments parts of the machine (e.g., pipe, valve, motor)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Infrastructure Monitoring (Pipelines, Power Plants)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it’s crucial to use for these application where images captured by different sensors or conditions vary a lot.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61F1B-64CB-4128-977B-F46A3A8BAD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35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based our work on this research paper that used an adversarial generative network to translate images from a domain to another (from RGB to IRRG) then performed segmentation on the translated images.</a:t>
            </a:r>
          </a:p>
          <a:p>
            <a:endParaRPr lang="en-US" dirty="0"/>
          </a:p>
          <a:p>
            <a:r>
              <a:rPr lang="en-US" dirty="0"/>
              <a:t>shows a typical situation in which we have a trained model on a specific source domain and we want to use this model to segment another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61F1B-64CB-4128-977B-F46A3A8BAD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36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followed a similar idea but improved the pipeline by using a stronger segmentation model and refining the translation process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Mention the improvements: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DeepLabV3 + ResNet101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Early stopping using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mIoU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Better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CycleGAN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training setup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Refined the translation process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61F1B-64CB-4128-977B-F46A3A8BAD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22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"We used the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Potsdam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and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Vaihingen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datasets — both aerial images but with different resolutions and sensors (RGB vs IRRG)."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"We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split large tile images into 512x512 patches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to make training efficient and organized the data systematically for both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CycleGAN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and Segmentation.“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ar-S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وقولي اللي كتبته لك ذاك اليوم بالدفتر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61F1B-64CB-4128-977B-F46A3A8BAD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9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used 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DeepLabV3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with a 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ResNet101 backbone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for semantic segmentation, known for capturing multi-scale context, which is very useful for complex aerial images. And the module used in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deeplab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for this particular process is ASPP, which </a:t>
            </a:r>
            <a:r>
              <a:rPr lang="en-US" sz="2800" dirty="0"/>
              <a:t>"</a:t>
            </a:r>
            <a:r>
              <a:rPr lang="en-US" sz="2800" b="1" dirty="0"/>
              <a:t>It looks at different zoom levels — local and global — to better understand what an object is and capture features, and to make more accurate segmentation decisions.</a:t>
            </a:r>
            <a:r>
              <a:rPr lang="en-US" sz="2800" dirty="0"/>
              <a:t>“</a:t>
            </a:r>
            <a:endParaRPr lang="en-US" sz="1800" dirty="0"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800" b="1" dirty="0"/>
              <a:t>Local information</a:t>
            </a:r>
            <a:r>
              <a:rPr lang="en-US" sz="2800" dirty="0"/>
              <a:t> → tiny details near the pixel (e.g., the edge of a car, a window, a tree leaf)</a:t>
            </a:r>
          </a:p>
          <a:p>
            <a:r>
              <a:rPr lang="en-US" sz="2800" b="1" dirty="0"/>
              <a:t>Global context</a:t>
            </a:r>
            <a:r>
              <a:rPr lang="en-US" sz="2800" dirty="0"/>
              <a:t> → the bigger surrounding scene (e.g., this area is part of a whole car, or part of a big building)</a:t>
            </a:r>
          </a:p>
          <a:p>
            <a:endParaRPr lang="en-US" sz="2800" dirty="0"/>
          </a:p>
          <a:p>
            <a:r>
              <a:rPr lang="en-US" sz="2800" dirty="0" err="1"/>
              <a:t>Concat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Compare to ground truth mask (256×256 one-hot)**  </a:t>
            </a:r>
          </a:p>
          <a:p>
            <a:r>
              <a:rPr lang="en-US" sz="2800" dirty="0"/>
              <a:t>   ↓</a:t>
            </a:r>
          </a:p>
          <a:p>
            <a:r>
              <a:rPr lang="en-US" sz="2800" dirty="0"/>
              <a:t>– Compute </a:t>
            </a:r>
            <a:r>
              <a:rPr lang="en-US" sz="2800" dirty="0" err="1"/>
              <a:t>categorical_crossentropy</a:t>
            </a:r>
            <a:r>
              <a:rPr lang="en-US" sz="2800" dirty="0"/>
              <a:t> loss  </a:t>
            </a:r>
          </a:p>
          <a:p>
            <a:r>
              <a:rPr lang="en-US" sz="2800" dirty="0"/>
              <a:t>– Update </a:t>
            </a:r>
            <a:r>
              <a:rPr lang="en-US" sz="2800" dirty="0" err="1"/>
              <a:t>MeanIoU_Custom</a:t>
            </a:r>
            <a:r>
              <a:rPr lang="en-US" sz="2800" dirty="0"/>
              <a:t> metric  </a:t>
            </a:r>
          </a:p>
          <a:p>
            <a:r>
              <a:rPr lang="en-US" sz="2800" dirty="0"/>
              <a:t>   ↓</a:t>
            </a:r>
          </a:p>
          <a:p>
            <a:r>
              <a:rPr lang="en-US" sz="2800" dirty="0"/>
              <a:t>Backpropagate gradients into the network</a:t>
            </a:r>
          </a:p>
          <a:p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61F1B-64CB-4128-977B-F46A3A8BAD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94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"To perform domain adaptation, we used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CycleGAN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to translate images from Potsdam (RGB) style to Vaihingen (IRRG) style."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CycleGAN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learns to translate images in both directions while preserving structure, using two generators and two discriminators."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61F1B-64CB-4128-977B-F46A3A8BAD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12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"After translation, we fine-tuned the segmentation model on the translated images.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This way, the model learned the new style without needing new labels."</a:t>
            </a:r>
          </a:p>
          <a:p>
            <a:r>
              <a:rPr lang="en-US" b="1" dirty="0"/>
              <a:t>This step helps the model parameters to learn the patterns of the target dataset and to converge to a better recognition of image structure on the target dataset. After the fine-tuning process, the semantic segmentation model is adapted to work on the target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61F1B-64CB-4128-977B-F46A3A8BAD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343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"We evaluated the model using key metrics like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accuracy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precision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recall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F1-score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and most importantly,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mean Intersection-over-Union (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mIoU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61F1B-64CB-4128-977B-F46A3A8BAD2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14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11187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13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505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16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1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22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74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18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75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1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19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89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1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r" defTabSz="914400" rtl="1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4312" y="1585992"/>
            <a:ext cx="3988200" cy="3686015"/>
          </a:xfrm>
        </p:spPr>
        <p:txBody>
          <a:bodyPr>
            <a:noAutofit/>
          </a:bodyPr>
          <a:lstStyle/>
          <a:p>
            <a:pPr algn="ctr"/>
            <a:r>
              <a:rPr lang="ar-SA" sz="4000" b="1" dirty="0"/>
              <a:t> </a:t>
            </a:r>
            <a:br>
              <a:rPr lang="ar-SA" sz="4000" b="1" dirty="0"/>
            </a:br>
            <a:r>
              <a:rPr lang="en-US" sz="4000" b="1" dirty="0"/>
              <a:t> Adversarial</a:t>
            </a:r>
            <a:r>
              <a:rPr lang="ar-SA" sz="4000" b="1" dirty="0"/>
              <a:t> </a:t>
            </a:r>
            <a:r>
              <a:rPr lang="en-US" sz="4000" b="1" dirty="0"/>
              <a:t>Unsupervised Domain Adaptation for Aerial Image Segmentation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 err="1"/>
              <a:t>AeroAdapt</a:t>
            </a:r>
            <a:r>
              <a:rPr lang="en-US" sz="4000" b="1" dirty="0"/>
              <a:t>-GAN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47499" y="4455621"/>
            <a:ext cx="3621826" cy="1238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E027258-A6D2-FC98-6B03-8F720B5B2D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" t="17600"/>
          <a:stretch/>
        </p:blipFill>
        <p:spPr>
          <a:xfrm>
            <a:off x="20" y="0"/>
            <a:ext cx="4571980" cy="68580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03789" y="4343400"/>
            <a:ext cx="329184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 b="1" dirty="0">
                <a:solidFill>
                  <a:srgbClr val="FFFFFF"/>
                </a:solidFill>
              </a:rPr>
              <a:t>Semantic Segmentation &amp; Domain Adaptation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pPr algn="l" rtl="0"/>
            <a:r>
              <a:rPr lang="en-US" b="1" dirty="0"/>
              <a:t>Semantic Segmentation</a:t>
            </a:r>
            <a:r>
              <a:rPr lang="en-US" dirty="0"/>
              <a:t>: Label each pixel with a class.</a:t>
            </a:r>
          </a:p>
          <a:p>
            <a:pPr algn="l" rtl="0"/>
            <a:r>
              <a:rPr lang="en-US" b="1" dirty="0"/>
              <a:t>Domain Adaptation</a:t>
            </a:r>
            <a:r>
              <a:rPr lang="en-US" dirty="0"/>
              <a:t>: Adapt models to new data distributions.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7682A25-42C8-4715-BF21-184A2A338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2909" y="634946"/>
            <a:ext cx="2529396" cy="5055904"/>
          </a:xfrm>
        </p:spPr>
        <p:txBody>
          <a:bodyPr anchor="ctr">
            <a:normAutofit/>
          </a:bodyPr>
          <a:lstStyle/>
          <a:p>
            <a:pPr algn="ctr"/>
            <a:r>
              <a:rPr lang="en-US" sz="3700" dirty="0"/>
              <a:t>Real Life Applications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736393-45A9-49C6-90FF-3486BD423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92733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3AD8F8B-6BDD-4751-800C-E84F1A8FA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S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21D79A-75FF-4A04-80E0-85755EA72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S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DF83A8-A30D-9C07-62CB-FB2880D220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12739"/>
              </p:ext>
            </p:extLst>
          </p:nvPr>
        </p:nvGraphicFramePr>
        <p:xfrm>
          <a:off x="475059" y="639763"/>
          <a:ext cx="5182791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4D33442-D148-4775-BF80-91F053E57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763" y="634946"/>
            <a:ext cx="3845379" cy="1450757"/>
          </a:xfrm>
        </p:spPr>
        <p:txBody>
          <a:bodyPr>
            <a:normAutofit/>
          </a:bodyPr>
          <a:lstStyle/>
          <a:p>
            <a:r>
              <a:rPr lang="en-US" sz="4400"/>
              <a:t>Referenced Paper Overview</a:t>
            </a:r>
          </a:p>
        </p:txBody>
      </p:sp>
      <p:pic>
        <p:nvPicPr>
          <p:cNvPr id="5" name="Picture 4" descr="A diagram of a drone&#10;&#10;AI-generated content may be incorrect.">
            <a:extLst>
              <a:ext uri="{FF2B5EF4-FFF2-40B4-BE49-F238E27FC236}">
                <a16:creationId xmlns:a16="http://schemas.microsoft.com/office/drawing/2014/main" id="{BC60BE55-3B25-2383-D791-F11DA0D1A6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9"/>
          <a:stretch/>
        </p:blipFill>
        <p:spPr>
          <a:xfrm>
            <a:off x="482394" y="2275000"/>
            <a:ext cx="4088720" cy="1987959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8EF2C47-53DA-4F9F-918A-F6057C8EB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08763" y="2086188"/>
            <a:ext cx="356160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D5E068D-E677-4E1B-8CE2-8CE1826A1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AD6E12-8A58-4D86-AACD-D58C4B256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9BE44144-075E-7466-0D9C-A1580268A9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0476953"/>
              </p:ext>
            </p:extLst>
          </p:nvPr>
        </p:nvGraphicFramePr>
        <p:xfrm>
          <a:off x="4808763" y="2198914"/>
          <a:ext cx="3845379" cy="3670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3969B5-FE3E-4150-B93F-B908A270C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FCBB93-2B1C-491C-903C-769C626EA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S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2103875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rgbClr val="FFFFFF"/>
                </a:solidFill>
              </a:rPr>
              <a:t>Our Proposed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32" y="2843867"/>
            <a:ext cx="3263353" cy="3335519"/>
          </a:xfrm>
        </p:spPr>
        <p:txBody>
          <a:bodyPr>
            <a:norm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Improved segmentation model.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Refined translation process.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Early stopping based on </a:t>
            </a:r>
            <a:r>
              <a:rPr lang="en-US" sz="1800" dirty="0" err="1">
                <a:solidFill>
                  <a:srgbClr val="FFFFFF"/>
                </a:solidFill>
              </a:rPr>
              <a:t>mIoU</a:t>
            </a:r>
            <a:r>
              <a:rPr lang="en-US" sz="1800" dirty="0">
                <a:solidFill>
                  <a:srgbClr val="FFFFFF"/>
                </a:solidFill>
              </a:rPr>
              <a:t>.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0464D7-9DE6-4DE1-865A-27A05DB1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SA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3CAB0876-A8C7-CE19-3E8D-935B72C4FA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7" r="3980"/>
          <a:stretch/>
        </p:blipFill>
        <p:spPr>
          <a:xfrm>
            <a:off x="3556512" y="2023089"/>
            <a:ext cx="5098562" cy="28118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4469" y="2222140"/>
            <a:ext cx="5086350" cy="3547872"/>
          </a:xfrm>
        </p:spPr>
        <p:txBody>
          <a:bodyPr anchor="t">
            <a:normAutofit/>
          </a:bodyPr>
          <a:lstStyle/>
          <a:p>
            <a:pPr algn="ctr"/>
            <a:r>
              <a:rPr lang="en-US" sz="2400" b="1" dirty="0"/>
              <a:t>Dataset Source: </a:t>
            </a:r>
            <a:r>
              <a:rPr lang="en-US" sz="2400" dirty="0"/>
              <a:t>International Society for Photogrammetry and Remote Sensing (ISPRS) [2]</a:t>
            </a:r>
          </a:p>
          <a:p>
            <a:pPr algn="ctr"/>
            <a:r>
              <a:rPr lang="en-US" sz="2400" b="1" dirty="0"/>
              <a:t>Contains</a:t>
            </a:r>
            <a:r>
              <a:rPr lang="en-US" sz="2400" dirty="0"/>
              <a:t>: Potsdam (RGB), Vaihingen (IRRG).</a:t>
            </a:r>
          </a:p>
          <a:p>
            <a:pPr algn="ctr"/>
            <a:r>
              <a:rPr lang="en-US" sz="2400" dirty="0"/>
              <a:t>Cropped into 512x512 patches for training efficiency.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69AC78-6802-0BEA-E806-27A41FCE6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819" y="630936"/>
            <a:ext cx="2872587" cy="55778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1D6443-BB79-D612-CC8F-056A9D8C0B32}"/>
              </a:ext>
            </a:extLst>
          </p:cNvPr>
          <p:cNvSpPr txBox="1"/>
          <p:nvPr/>
        </p:nvSpPr>
        <p:spPr>
          <a:xfrm>
            <a:off x="1004469" y="930592"/>
            <a:ext cx="53958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1800" dirty="0"/>
              <a:t> </a:t>
            </a:r>
            <a:r>
              <a:rPr lang="en-GB" sz="4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Data and preprocessing</a:t>
            </a:r>
            <a:endParaRPr lang="ar-SA" sz="4400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E14809C-AB06-455C-9E09-733EC00DD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S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612D73-1056-4289-A977-92C9190C7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S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EF5484-1F18-43F6-B596-CFD1939E0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F3B4B1-0E5F-4E0B-ADF8-202569066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4091495" cy="5897880"/>
          </a:xfrm>
          <a:prstGeom prst="rect">
            <a:avLst/>
          </a:prstGeom>
          <a:solidFill>
            <a:srgbClr val="FFFFFF"/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2D Semantic Label. - Vaihingen">
            <a:extLst>
              <a:ext uri="{FF2B5EF4-FFF2-40B4-BE49-F238E27FC236}">
                <a16:creationId xmlns:a16="http://schemas.microsoft.com/office/drawing/2014/main" id="{820DE84E-6EAF-2A0A-E04C-6A71D9900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1153" y="698982"/>
            <a:ext cx="3604704" cy="375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03907F0-0940-4D45-AAD0-448D191C8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90554" y="480060"/>
            <a:ext cx="4091495" cy="5897880"/>
          </a:xfrm>
          <a:prstGeom prst="rect">
            <a:avLst/>
          </a:prstGeom>
          <a:solidFill>
            <a:srgbClr val="FFFFFF"/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ISPRS Potsdam Dataset | Papers With Code">
            <a:extLst>
              <a:ext uri="{FF2B5EF4-FFF2-40B4-BE49-F238E27FC236}">
                <a16:creationId xmlns:a16="http://schemas.microsoft.com/office/drawing/2014/main" id="{75D35FF8-6760-4E7F-90F1-3EE024C6B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27643" y="770583"/>
            <a:ext cx="3731651" cy="361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398510-7C57-1DAC-0B68-F301A85D3D09}"/>
              </a:ext>
            </a:extLst>
          </p:cNvPr>
          <p:cNvSpPr txBox="1"/>
          <p:nvPr/>
        </p:nvSpPr>
        <p:spPr>
          <a:xfrm>
            <a:off x="1594378" y="4883456"/>
            <a:ext cx="2487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Vaihingen</a:t>
            </a:r>
          </a:p>
          <a:p>
            <a:r>
              <a:rPr lang="en-US" sz="2400" b="1" dirty="0"/>
              <a:t>(Target domain)</a:t>
            </a:r>
          </a:p>
          <a:p>
            <a:endParaRPr 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12E57B-DFA0-354C-A982-76EFD81CAA33}"/>
              </a:ext>
            </a:extLst>
          </p:cNvPr>
          <p:cNvSpPr txBox="1"/>
          <p:nvPr/>
        </p:nvSpPr>
        <p:spPr>
          <a:xfrm>
            <a:off x="5603966" y="4863504"/>
            <a:ext cx="26321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Potsdam</a:t>
            </a:r>
          </a:p>
          <a:p>
            <a:r>
              <a:rPr lang="en-US" sz="2400" b="1" dirty="0"/>
              <a:t>(Source domain)</a:t>
            </a:r>
          </a:p>
        </p:txBody>
      </p:sp>
    </p:spTree>
    <p:extLst>
      <p:ext uri="{BB962C8B-B14F-4D97-AF65-F5344CB8AC3E}">
        <p14:creationId xmlns:p14="http://schemas.microsoft.com/office/powerpoint/2010/main" val="4112869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808" y="516835"/>
            <a:ext cx="2325102" cy="2103875"/>
          </a:xfrm>
        </p:spPr>
        <p:txBody>
          <a:bodyPr>
            <a:normAutofit/>
          </a:bodyPr>
          <a:lstStyle/>
          <a:p>
            <a:r>
              <a:rPr lang="en-US" sz="3100"/>
              <a:t>Segmentation Model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3195" y="2633962"/>
            <a:ext cx="20574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278" y="2736574"/>
            <a:ext cx="2313633" cy="3366047"/>
          </a:xfrm>
        </p:spPr>
        <p:txBody>
          <a:bodyPr>
            <a:norm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1400" dirty="0"/>
              <a:t>DeepLabV3 with ResNet101 backbone.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400" dirty="0"/>
              <a:t>Captures multi-scale contextual information.</a:t>
            </a:r>
          </a:p>
          <a:p>
            <a:pPr algn="l"/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BFF094-91A8-D954-A40C-3A3AB6A05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796" y="1016393"/>
            <a:ext cx="6433617" cy="48252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808" y="516835"/>
            <a:ext cx="2325102" cy="2103875"/>
          </a:xfrm>
        </p:spPr>
        <p:txBody>
          <a:bodyPr>
            <a:normAutofit/>
          </a:bodyPr>
          <a:lstStyle/>
          <a:p>
            <a:r>
              <a:rPr lang="en-US" sz="3100"/>
              <a:t>CycleGAN for Translation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3195" y="2633962"/>
            <a:ext cx="20574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278" y="2736574"/>
            <a:ext cx="2313633" cy="3366047"/>
          </a:xfrm>
        </p:spPr>
        <p:txBody>
          <a:bodyPr>
            <a:norm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1300" b="1"/>
              <a:t>CycleGAN</a:t>
            </a:r>
            <a:r>
              <a:rPr lang="en-US" sz="1300"/>
              <a:t> translates images between domains.</a:t>
            </a:r>
          </a:p>
          <a:p>
            <a:pPr marL="346075" indent="-90488" algn="l" rtl="0">
              <a:buFont typeface="Arial" panose="020B0604020202020204" pitchFamily="34" charset="0"/>
              <a:buChar char="•"/>
            </a:pPr>
            <a:r>
              <a:rPr lang="en-US" sz="1300"/>
              <a:t>Generator </a:t>
            </a:r>
          </a:p>
          <a:p>
            <a:pPr marL="346075" indent="-90488" algn="l" rtl="0">
              <a:buFont typeface="Arial" panose="020B0604020202020204" pitchFamily="34" charset="0"/>
              <a:buChar char="•"/>
            </a:pPr>
            <a:r>
              <a:rPr lang="en-US" sz="1300"/>
              <a:t>Discriminator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300"/>
              <a:t>Preserves structure using cycle consistency.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FB13CF-1B05-F422-30FB-D14FC6BCF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729" y="1094722"/>
            <a:ext cx="5559846" cy="26399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03681F-3E02-4AAF-40D7-0E1463C82C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34" r="2726"/>
          <a:stretch/>
        </p:blipFill>
        <p:spPr>
          <a:xfrm>
            <a:off x="3620728" y="3871450"/>
            <a:ext cx="6054213" cy="26399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Translation and Fine-tuning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Translate Potsdam to Vaihingen style.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Fine-tune segmentation model on translated data</a:t>
            </a:r>
            <a:r>
              <a:rPr lang="en-US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8CB26C0A-A78E-3F50-663E-76E3856BE8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7" r="3980"/>
          <a:stretch/>
        </p:blipFill>
        <p:spPr>
          <a:xfrm>
            <a:off x="1250922" y="2920181"/>
            <a:ext cx="6687873" cy="30572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58169A-71BF-73F4-D25C-8A88FEB222E1}"/>
              </a:ext>
            </a:extLst>
          </p:cNvPr>
          <p:cNvSpPr/>
          <p:nvPr/>
        </p:nvSpPr>
        <p:spPr>
          <a:xfrm>
            <a:off x="4498258" y="2993159"/>
            <a:ext cx="3394820" cy="2795584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8738" indent="-58738" algn="l" rtl="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Metrics: Accuracy, Precision, Recall, F1-score, Mean IoU.</a:t>
            </a:r>
          </a:p>
          <a:p>
            <a:pPr marL="58738" indent="-58738" algn="l" rtl="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Focus on overall and class-specific performance.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C6E9B6-851B-3D8D-9223-EB8E3F473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69" y="2774565"/>
            <a:ext cx="5243051" cy="520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1F8E73-5DF0-B70B-B969-6A5AC5A72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59" y="3429000"/>
            <a:ext cx="4136186" cy="27516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6FFDD6-EF35-C130-0143-248D243BEA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4763648"/>
              </p:ext>
            </p:extLst>
          </p:nvPr>
        </p:nvGraphicFramePr>
        <p:xfrm>
          <a:off x="170122" y="893135"/>
          <a:ext cx="8686800" cy="4231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80557366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86963811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510887149"/>
                    </a:ext>
                  </a:extLst>
                </a:gridCol>
              </a:tblGrid>
              <a:tr h="589539"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Experiment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Experiment 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978751"/>
                  </a:ext>
                </a:extLst>
              </a:tr>
              <a:tr h="589539"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Stopping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Early Stopping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No Early Stopping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751818"/>
                  </a:ext>
                </a:extLst>
              </a:tr>
              <a:tr h="1017560"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Generator Loss and Discriminator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MSE (L2 loss)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Binary cross entropy (BCE)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801260"/>
                  </a:ext>
                </a:extLst>
              </a:tr>
              <a:tr h="1017560"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Results before adaption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overall accuracy : 0.4281 overall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mIoU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0.1804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overall accuracy : 0.3762 overall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mIoU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0.1462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536960"/>
                  </a:ext>
                </a:extLst>
              </a:tr>
              <a:tr h="1017560"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Results after adaptation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overall accuracy : 0.0362 overall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mIoU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0.0194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overall accuracy : 0.3401 overall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mIoU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0.0793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042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223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29A099-5CB1-4A20-B64F-4F0562EF3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7C0A89-7FB3-43F8-9DE3-0177E3E27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S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251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GB" sz="5400" dirty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9F4DD4-CC07-42A8-8AF8-069654F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S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CE1CFF-E8C4-C556-2B91-1DF61A740E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1323591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F92973-8B13-163A-4DAD-6D751D8BD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60" y="605896"/>
            <a:ext cx="2883099" cy="5646208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Future Work / Enhancements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0CDCE-A427-F64B-7BD9-4A0B45A98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</a:rPr>
              <a:t>Evaluate stronger backbones and networks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Multi-scale: train on varied tile size to capture fine details &amp; larger context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</a:rPr>
              <a:t>Retrain to further close the domain gap.</a:t>
            </a:r>
            <a:endParaRPr lang="en-US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l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9853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1263</TotalTime>
  <Words>1045</Words>
  <Application>Microsoft Office PowerPoint</Application>
  <PresentationFormat>On-screen Show (4:3)</PresentationFormat>
  <Paragraphs>110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Symbol</vt:lpstr>
      <vt:lpstr>Retrospect</vt:lpstr>
      <vt:lpstr>   Adversarial Unsupervised Domain Adaptation for Aerial Image Segmentation  AeroAdapt-GAN</vt:lpstr>
      <vt:lpstr>Semantic Segmentation &amp; Domain Adaptation</vt:lpstr>
      <vt:lpstr>Real Life Applications</vt:lpstr>
      <vt:lpstr>Referenced Paper Overview</vt:lpstr>
      <vt:lpstr>Our Proposed Implementation</vt:lpstr>
      <vt:lpstr>PowerPoint Presentation</vt:lpstr>
      <vt:lpstr>PowerPoint Presentation</vt:lpstr>
      <vt:lpstr>Segmentation Model</vt:lpstr>
      <vt:lpstr>CycleGAN for Translation</vt:lpstr>
      <vt:lpstr>Translation and Fine-tuning</vt:lpstr>
      <vt:lpstr>Evaluation</vt:lpstr>
      <vt:lpstr>PowerPoint Presentation</vt:lpstr>
      <vt:lpstr>Results</vt:lpstr>
      <vt:lpstr>Future Work /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razan a</dc:creator>
  <cp:keywords/>
  <dc:description>generated using python-pptx</dc:description>
  <cp:lastModifiedBy>Musherah .</cp:lastModifiedBy>
  <cp:revision>36</cp:revision>
  <dcterms:created xsi:type="dcterms:W3CDTF">2013-01-27T09:14:16Z</dcterms:created>
  <dcterms:modified xsi:type="dcterms:W3CDTF">2025-04-29T14:37:13Z</dcterms:modified>
  <cp:category/>
</cp:coreProperties>
</file>